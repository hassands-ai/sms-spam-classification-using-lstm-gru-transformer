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3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4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5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C2C5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C2C5B"/>
                </a:solidFill>
                <a:latin typeface="Arial"/>
              </a:rPr>
              <a:t>Training Loss per Epoch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Loss</c:v>
                </c:pt>
              </c:strCache>
            </c:strRef>
          </c:tx>
          <c:spPr>
            <a:solidFill>
              <a:srgbClr val="F6A623"/>
            </a:solidFill>
            <a:ln w="38100" cap="flat">
              <a:solidFill>
                <a:srgbClr val="F6A62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6A623"/>
              </a:solidFill>
              <a:ln w="9525" cap="flat">
                <a:solidFill>
                  <a:srgbClr val="F6A62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1.2019</c:v>
                </c:pt>
                <c:pt idx="1">
                  <c:v>1.1966</c:v>
                </c:pt>
                <c:pt idx="2">
                  <c:v>1.1934</c:v>
                </c:pt>
                <c:pt idx="3">
                  <c:v>1.1923</c:v>
                </c:pt>
                <c:pt idx="4">
                  <c:v>1.1547</c:v>
                </c:pt>
                <c:pt idx="5">
                  <c:v>0.9802</c:v>
                </c:pt>
                <c:pt idx="6">
                  <c:v>0.7371</c:v>
                </c:pt>
                <c:pt idx="7">
                  <c:v>0.658</c:v>
                </c:pt>
                <c:pt idx="8">
                  <c:v>0.6411</c:v>
                </c:pt>
                <c:pt idx="9">
                  <c:v>0.5802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F9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F9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C2C5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C2C5B"/>
                </a:solidFill>
                <a:latin typeface="Arial"/>
              </a:rPr>
              <a:t>Training Accuracy (%) per Epoch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Accuracy</c:v>
                </c:pt>
              </c:strCache>
            </c:strRef>
          </c:tx>
          <c:spPr>
            <a:solidFill>
              <a:srgbClr val="1E6FBB"/>
            </a:solidFill>
            <a:ln w="38100" cap="flat">
              <a:solidFill>
                <a:srgbClr val="1E6FB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6FBB"/>
              </a:solidFill>
              <a:ln w="9525" cap="flat">
                <a:solidFill>
                  <a:srgbClr val="1E6FB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75.9</c:v>
                </c:pt>
                <c:pt idx="1">
                  <c:v>15.44</c:v>
                </c:pt>
                <c:pt idx="2">
                  <c:v>55.98</c:v>
                </c:pt>
                <c:pt idx="3">
                  <c:v>21.07</c:v>
                </c:pt>
                <c:pt idx="4">
                  <c:v>59.26</c:v>
                </c:pt>
                <c:pt idx="5">
                  <c:v>79.18</c:v>
                </c:pt>
                <c:pt idx="6">
                  <c:v>79.52</c:v>
                </c:pt>
                <c:pt idx="7">
                  <c:v>88.65</c:v>
                </c:pt>
                <c:pt idx="8">
                  <c:v>91.7</c:v>
                </c:pt>
                <c:pt idx="9">
                  <c:v>91.25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F9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F9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C2C5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C2C5B"/>
                </a:solidFill>
                <a:latin typeface="Arial"/>
              </a:rPr>
              <a:t>GRU Training Loss (5 Epochs)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GRU Train Loss</c:v>
                </c:pt>
              </c:strCache>
            </c:strRef>
          </c:tx>
          <c:spPr>
            <a:solidFill>
              <a:srgbClr val="3A9E6F"/>
            </a:solidFill>
            <a:ln w="38100" cap="flat">
              <a:solidFill>
                <a:srgbClr val="3A9E6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A9E6F"/>
              </a:solidFill>
              <a:ln w="9525" cap="flat">
                <a:solidFill>
                  <a:srgbClr val="3A9E6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0.4146</c:v>
                </c:pt>
                <c:pt idx="1">
                  <c:v>0.1369</c:v>
                </c:pt>
                <c:pt idx="2">
                  <c:v>0.121</c:v>
                </c:pt>
                <c:pt idx="3">
                  <c:v>0.0929</c:v>
                </c:pt>
                <c:pt idx="4">
                  <c:v>0.0687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F9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F9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C2C5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C2C5B"/>
                </a:solidFill>
                <a:latin typeface="Arial"/>
              </a:rPr>
              <a:t>Transformer Training Loss (5 Epochs)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Transformer Loss</c:v>
                </c:pt>
              </c:strCache>
            </c:strRef>
          </c:tx>
          <c:spPr>
            <a:solidFill>
              <a:srgbClr val="5A1A8A"/>
            </a:solidFill>
            <a:ln w="38100" cap="flat">
              <a:solidFill>
                <a:srgbClr val="5A1A8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A1A8A"/>
              </a:solidFill>
              <a:ln w="9525" cap="flat">
                <a:solidFill>
                  <a:srgbClr val="5A1A8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0.2616</c:v>
                </c:pt>
                <c:pt idx="1">
                  <c:v>0.105</c:v>
                </c:pt>
                <c:pt idx="2">
                  <c:v>0.0606</c:v>
                </c:pt>
                <c:pt idx="3">
                  <c:v>0.046</c:v>
                </c:pt>
                <c:pt idx="4">
                  <c:v>0.0385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F9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F9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C2C5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LSTM</c:v>
                  </c:pt>
                  <c:pt idx="1">
                    <c:v>GRU</c:v>
                  </c:pt>
                  <c:pt idx="2">
                    <c:v>Transformer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88.07</c:v>
                </c:pt>
                <c:pt idx="1">
                  <c:v>97.04</c:v>
                </c:pt>
                <c:pt idx="2">
                  <c:v>98.21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F6A62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C2C5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LSTM</c:v>
                  </c:pt>
                  <c:pt idx="1">
                    <c:v>GRU</c:v>
                  </c:pt>
                  <c:pt idx="2">
                    <c:v>Transformer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92.61</c:v>
                </c:pt>
                <c:pt idx="1">
                  <c:v>97.08</c:v>
                </c:pt>
                <c:pt idx="2">
                  <c:v>98.19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 Score</c:v>
                </c:pt>
              </c:strCache>
            </c:strRef>
          </c:tx>
          <c:spPr>
            <a:solidFill>
              <a:srgbClr val="3A9E6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C2C5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LSTM</c:v>
                  </c:pt>
                  <c:pt idx="1">
                    <c:v>GRU</c:v>
                  </c:pt>
                  <c:pt idx="2">
                    <c:v>Transformer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89.33</c:v>
                </c:pt>
                <c:pt idx="1">
                  <c:v>96.9</c:v>
                </c:pt>
                <c:pt idx="2">
                  <c:v>98.17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C2C5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F9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8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F9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3" Type="http://schemas.openxmlformats.org/officeDocument/2006/relationships/chart" Target="/ppt/charts/chart2.xml"/><Relationship Id="rId1" Type="http://schemas.openxmlformats.org/officeDocument/2006/relationships/image" Target="../media/image-1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1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1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5.xml"/><Relationship Id="rId1" Type="http://schemas.openxmlformats.org/officeDocument/2006/relationships/image" Target="../media/image-1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828800"/>
            <a:ext cx="5029200" cy="5029200"/>
          </a:xfrm>
          <a:prstGeom prst="ellipse">
            <a:avLst/>
          </a:prstGeom>
          <a:solidFill>
            <a:srgbClr val="2D4A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114800"/>
            <a:ext cx="4389120" cy="4389120"/>
          </a:xfrm>
          <a:prstGeom prst="ellipse">
            <a:avLst/>
          </a:prstGeom>
          <a:solidFill>
            <a:srgbClr val="3A5A9B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754880" y="5303520"/>
            <a:ext cx="2926080" cy="2926080"/>
          </a:xfrm>
          <a:prstGeom prst="ellipse">
            <a:avLst/>
          </a:prstGeom>
          <a:solidFill>
            <a:srgbClr val="F6A623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594360"/>
            <a:ext cx="868680" cy="868680"/>
          </a:xfrm>
          <a:prstGeom prst="ellipse">
            <a:avLst/>
          </a:prstGeom>
          <a:solidFill>
            <a:srgbClr val="F6A62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768096"/>
            <a:ext cx="521208" cy="5212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24028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2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NATURAL LANGUAGE PROCESSING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02920" y="2578608"/>
            <a:ext cx="10972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LSTM-Based SMS Spam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502920" y="4041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LSTM  •  GRU  •  Transformer Encoder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02920" y="46634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  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Hassan Iqbal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02920" y="49651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  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Centre of Artificial Intelligence (NCAI)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02920" y="526694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  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Spam Collection Dataset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02920" y="55686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  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 •  scikit-learn  •  TensorFlow Keras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02920" y="58704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  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Binary Text Classification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30352" cy="530352"/>
          </a:xfrm>
          <a:prstGeom prst="ellipse">
            <a:avLst/>
          </a:prstGeom>
          <a:solidFill>
            <a:srgbClr val="F6A62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49377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16152" y="338328"/>
            <a:ext cx="10469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02920" y="109728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completing this notebook you will be able to understand and implement the key sequence modelling architectures used in modern NLP.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02920" y="1874520"/>
            <a:ext cx="2697480" cy="1755648"/>
          </a:xfrm>
          <a:prstGeom prst="roundRect">
            <a:avLst>
              <a:gd name="adj" fmla="val 4167"/>
            </a:avLst>
          </a:prstGeom>
          <a:solidFill>
            <a:srgbClr val="EBF0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04088" y="2075688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94560"/>
            <a:ext cx="246888" cy="2468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67512" y="2670048"/>
            <a:ext cx="2368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Data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667512" y="3054096"/>
            <a:ext cx="23682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why word order matters for language understanding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3383280" y="1874520"/>
            <a:ext cx="2697480" cy="1755648"/>
          </a:xfrm>
          <a:prstGeom prst="roundRect">
            <a:avLst>
              <a:gd name="adj" fmla="val 4167"/>
            </a:avLst>
          </a:prstGeom>
          <a:solidFill>
            <a:srgbClr val="EBF0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584448" y="2075688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2194560"/>
            <a:ext cx="246888" cy="2468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547872" y="2670048"/>
            <a:ext cx="2368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3547872" y="3054096"/>
            <a:ext cx="23682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Recurrent Neural Networks and the vanishing gradient problem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6263640" y="1874520"/>
            <a:ext cx="2697480" cy="1755648"/>
          </a:xfrm>
          <a:prstGeom prst="roundRect">
            <a:avLst>
              <a:gd name="adj" fmla="val 4167"/>
            </a:avLst>
          </a:prstGeom>
          <a:solidFill>
            <a:srgbClr val="EBF0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464808" y="2075688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2194560"/>
            <a:ext cx="246888" cy="24688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428232" y="2670048"/>
            <a:ext cx="2368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6428232" y="3054096"/>
            <a:ext cx="23682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Long Short-Term Memory gates and memory cells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9144000" y="1874520"/>
            <a:ext cx="2697480" cy="1755648"/>
          </a:xfrm>
          <a:prstGeom prst="roundRect">
            <a:avLst>
              <a:gd name="adj" fmla="val 4167"/>
            </a:avLst>
          </a:prstGeom>
          <a:solidFill>
            <a:srgbClr val="EBF0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9345168" y="2075688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4040" y="2194560"/>
            <a:ext cx="246888" cy="24688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308592" y="2670048"/>
            <a:ext cx="2368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9308592" y="3054096"/>
            <a:ext cx="23682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Gated Recurrent Units and their simplified design</a:t>
            </a:r>
            <a:endParaRPr lang="en-US" sz="950" dirty="0"/>
          </a:p>
        </p:txBody>
      </p:sp>
      <p:sp>
        <p:nvSpPr>
          <p:cNvPr id="26" name="Shape 19"/>
          <p:cNvSpPr/>
          <p:nvPr/>
        </p:nvSpPr>
        <p:spPr>
          <a:xfrm>
            <a:off x="502920" y="3831336"/>
            <a:ext cx="2697480" cy="1755648"/>
          </a:xfrm>
          <a:prstGeom prst="roundRect">
            <a:avLst>
              <a:gd name="adj" fmla="val 4167"/>
            </a:avLst>
          </a:prstGeom>
          <a:solidFill>
            <a:srgbClr val="EBF0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704088" y="4032504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4151376"/>
            <a:ext cx="246888" cy="24688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67512" y="4626864"/>
            <a:ext cx="2368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1250" dirty="0"/>
          </a:p>
        </p:txBody>
      </p:sp>
      <p:sp>
        <p:nvSpPr>
          <p:cNvPr id="30" name="Text 22"/>
          <p:cNvSpPr/>
          <p:nvPr/>
        </p:nvSpPr>
        <p:spPr>
          <a:xfrm>
            <a:off x="667512" y="5010912"/>
            <a:ext cx="23682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RNN, LSTM, and GRU by speed, memory, and accuracy</a:t>
            </a:r>
            <a:endParaRPr lang="en-US" sz="950" dirty="0"/>
          </a:p>
        </p:txBody>
      </p:sp>
      <p:sp>
        <p:nvSpPr>
          <p:cNvPr id="31" name="Shape 23"/>
          <p:cNvSpPr/>
          <p:nvPr/>
        </p:nvSpPr>
        <p:spPr>
          <a:xfrm>
            <a:off x="3383280" y="3831336"/>
            <a:ext cx="2697480" cy="1755648"/>
          </a:xfrm>
          <a:prstGeom prst="roundRect">
            <a:avLst>
              <a:gd name="adj" fmla="val 4167"/>
            </a:avLst>
          </a:prstGeom>
          <a:solidFill>
            <a:srgbClr val="EBF0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3584448" y="4032504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03320" y="4151376"/>
            <a:ext cx="246888" cy="246888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3547872" y="4626864"/>
            <a:ext cx="2368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</a:t>
            </a:r>
            <a:endParaRPr lang="en-US" sz="1250" dirty="0"/>
          </a:p>
        </p:txBody>
      </p:sp>
      <p:sp>
        <p:nvSpPr>
          <p:cNvPr id="35" name="Text 26"/>
          <p:cNvSpPr/>
          <p:nvPr/>
        </p:nvSpPr>
        <p:spPr>
          <a:xfrm>
            <a:off x="3547872" y="5010912"/>
            <a:ext cx="23682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why self-attention replaced recurrence in modern LLMs</a:t>
            </a:r>
            <a:endParaRPr lang="en-US" sz="950" dirty="0"/>
          </a:p>
        </p:txBody>
      </p:sp>
      <p:sp>
        <p:nvSpPr>
          <p:cNvPr id="36" name="Shape 27"/>
          <p:cNvSpPr/>
          <p:nvPr/>
        </p:nvSpPr>
        <p:spPr>
          <a:xfrm>
            <a:off x="6263640" y="3831336"/>
            <a:ext cx="2697480" cy="1755648"/>
          </a:xfrm>
          <a:prstGeom prst="roundRect">
            <a:avLst>
              <a:gd name="adj" fmla="val 4167"/>
            </a:avLst>
          </a:prstGeom>
          <a:solidFill>
            <a:srgbClr val="EBF0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7" name="Shape 28"/>
          <p:cNvSpPr/>
          <p:nvPr/>
        </p:nvSpPr>
        <p:spPr>
          <a:xfrm>
            <a:off x="6464808" y="4032504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0" y="4151376"/>
            <a:ext cx="246888" cy="246888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6428232" y="4626864"/>
            <a:ext cx="2368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Pipeline</a:t>
            </a:r>
            <a:endParaRPr lang="en-US" sz="1250" dirty="0"/>
          </a:p>
        </p:txBody>
      </p:sp>
      <p:sp>
        <p:nvSpPr>
          <p:cNvPr id="40" name="Text 30"/>
          <p:cNvSpPr/>
          <p:nvPr/>
        </p:nvSpPr>
        <p:spPr>
          <a:xfrm>
            <a:off x="6428232" y="5010912"/>
            <a:ext cx="23682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tokenization, padding, DataLoader, and training loop</a:t>
            </a:r>
            <a:endParaRPr lang="en-US" sz="950" dirty="0"/>
          </a:p>
        </p:txBody>
      </p:sp>
      <p:sp>
        <p:nvSpPr>
          <p:cNvPr id="41" name="Shape 31"/>
          <p:cNvSpPr/>
          <p:nvPr/>
        </p:nvSpPr>
        <p:spPr>
          <a:xfrm>
            <a:off x="9144000" y="3831336"/>
            <a:ext cx="2697480" cy="1755648"/>
          </a:xfrm>
          <a:prstGeom prst="roundRect">
            <a:avLst>
              <a:gd name="adj" fmla="val 4167"/>
            </a:avLst>
          </a:prstGeom>
          <a:solidFill>
            <a:srgbClr val="EBF0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2" name="Shape 32"/>
          <p:cNvSpPr/>
          <p:nvPr/>
        </p:nvSpPr>
        <p:spPr>
          <a:xfrm>
            <a:off x="9345168" y="4032504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64040" y="4151376"/>
            <a:ext cx="246888" cy="246888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9308592" y="4626864"/>
            <a:ext cx="2368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50" dirty="0"/>
          </a:p>
        </p:txBody>
      </p:sp>
      <p:sp>
        <p:nvSpPr>
          <p:cNvPr id="45" name="Text 34"/>
          <p:cNvSpPr/>
          <p:nvPr/>
        </p:nvSpPr>
        <p:spPr>
          <a:xfrm>
            <a:off x="9308592" y="5010912"/>
            <a:ext cx="23682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and compare all three models using classification metrics</a:t>
            </a:r>
            <a:endParaRPr lang="en-US" sz="950" dirty="0"/>
          </a:p>
        </p:txBody>
      </p:sp>
      <p:sp>
        <p:nvSpPr>
          <p:cNvPr id="46" name="Text 35"/>
          <p:cNvSpPr/>
          <p:nvPr/>
        </p:nvSpPr>
        <p:spPr>
          <a:xfrm>
            <a:off x="502920" y="651052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NLP  |  LSTM Text Classification  |  NCAI Generative AI Internship</a:t>
            </a:r>
            <a:endParaRPr lang="en-US" sz="850" dirty="0"/>
          </a:p>
        </p:txBody>
      </p:sp>
      <p:sp>
        <p:nvSpPr>
          <p:cNvPr id="47" name="Text 36"/>
          <p:cNvSpPr/>
          <p:nvPr/>
        </p:nvSpPr>
        <p:spPr>
          <a:xfrm>
            <a:off x="11384280" y="651052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30352" cy="530352"/>
          </a:xfrm>
          <a:prstGeom prst="ellipse">
            <a:avLst/>
          </a:prstGeom>
          <a:solidFill>
            <a:srgbClr val="F6A62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49377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16152" y="338328"/>
            <a:ext cx="10469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We Need Sequential Models?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02920" y="109728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ANNs treat every input independently and have no sense of word order — a critical limitation for language.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02920" y="1783080"/>
            <a:ext cx="5577840" cy="1645920"/>
          </a:xfrm>
          <a:prstGeom prst="roundRect">
            <a:avLst>
              <a:gd name="adj" fmla="val 444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02920" y="1965960"/>
            <a:ext cx="5577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"Dog bites man."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1051560" y="2679192"/>
            <a:ext cx="4480560" cy="457200"/>
          </a:xfrm>
          <a:prstGeom prst="roundRect">
            <a:avLst>
              <a:gd name="adj" fmla="val 50000"/>
            </a:avLst>
          </a:prstGeom>
          <a:solidFill>
            <a:srgbClr val="F6A623"/>
          </a:solidFill>
          <a:ln/>
        </p:spPr>
      </p:sp>
      <p:sp>
        <p:nvSpPr>
          <p:cNvPr id="9" name="Text 6"/>
          <p:cNvSpPr/>
          <p:nvPr/>
        </p:nvSpPr>
        <p:spPr>
          <a:xfrm>
            <a:off x="1051560" y="267919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 A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355080" y="1783080"/>
            <a:ext cx="5577840" cy="1645920"/>
          </a:xfrm>
          <a:prstGeom prst="roundRect">
            <a:avLst>
              <a:gd name="adj" fmla="val 444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355080" y="1965960"/>
            <a:ext cx="5577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"Man bites dog."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6903720" y="2679192"/>
            <a:ext cx="4480560" cy="457200"/>
          </a:xfrm>
          <a:prstGeom prst="roundRect">
            <a:avLst>
              <a:gd name="adj" fmla="val 50000"/>
            </a:avLst>
          </a:prstGeom>
          <a:solidFill>
            <a:srgbClr val="F6A623"/>
          </a:solidFill>
          <a:ln/>
        </p:spPr>
      </p:sp>
      <p:sp>
        <p:nvSpPr>
          <p:cNvPr id="13" name="Text 10"/>
          <p:cNvSpPr/>
          <p:nvPr/>
        </p:nvSpPr>
        <p:spPr>
          <a:xfrm>
            <a:off x="6903720" y="267919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 B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02920" y="352044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words — completely different meanings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02920" y="3977640"/>
            <a:ext cx="5577840" cy="2377440"/>
          </a:xfrm>
          <a:prstGeom prst="roundRect">
            <a:avLst>
              <a:gd name="adj" fmla="val 3077"/>
            </a:avLst>
          </a:prstGeom>
          <a:solidFill>
            <a:srgbClr val="EBF0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77240" y="4206240"/>
            <a:ext cx="5029200" cy="411480"/>
          </a:xfrm>
          <a:prstGeom prst="roundRect">
            <a:avLst>
              <a:gd name="adj" fmla="val 48889"/>
            </a:avLst>
          </a:prstGeom>
          <a:solidFill>
            <a:srgbClr val="FF5A5F"/>
          </a:solidFill>
          <a:ln/>
        </p:spPr>
      </p:sp>
      <p:sp>
        <p:nvSpPr>
          <p:cNvPr id="17" name="Text 14"/>
          <p:cNvSpPr/>
          <p:nvPr/>
        </p:nvSpPr>
        <p:spPr>
          <a:xfrm>
            <a:off x="777240" y="42062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ANN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77240" y="475488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memory of word order. Treats 'Dog bites man' and 'Man bites dog' as identical.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355080" y="3977640"/>
            <a:ext cx="5577840" cy="2377440"/>
          </a:xfrm>
          <a:prstGeom prst="roundRect">
            <a:avLst>
              <a:gd name="adj" fmla="val 3077"/>
            </a:avLst>
          </a:prstGeom>
          <a:solidFill>
            <a:srgbClr val="EBF0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629400" y="4206240"/>
            <a:ext cx="5029200" cy="411480"/>
          </a:xfrm>
          <a:prstGeom prst="roundRect">
            <a:avLst>
              <a:gd name="adj" fmla="val 48889"/>
            </a:avLst>
          </a:prstGeom>
          <a:solidFill>
            <a:srgbClr val="3A9E6F"/>
          </a:solidFill>
          <a:ln/>
        </p:spPr>
      </p:sp>
      <p:sp>
        <p:nvSpPr>
          <p:cNvPr id="21" name="Text 18"/>
          <p:cNvSpPr/>
          <p:nvPr/>
        </p:nvSpPr>
        <p:spPr>
          <a:xfrm>
            <a:off x="6629400" y="42062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Model (RNN/LSTM/GRU)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629400" y="475488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words one at a time, maintaining a hidden state that carries context from previous words.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502920" y="651052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NLP  |  LSTM Text Classification  |  NCAI Generative AI Internship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11384280" y="651052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30352" cy="530352"/>
          </a:xfrm>
          <a:prstGeom prst="ellipse">
            <a:avLst/>
          </a:prstGeom>
          <a:solidFill>
            <a:srgbClr val="F6A62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49377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16152" y="338328"/>
            <a:ext cx="10469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Recurrent Neural Network (RNN)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02920" y="109728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RNNs process sequential data by maintaining a hidden state that passes information from one time step to the next.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731520" y="1920240"/>
            <a:ext cx="1371600" cy="1005840"/>
          </a:xfrm>
          <a:prstGeom prst="roundRect">
            <a:avLst>
              <a:gd name="adj" fmla="val 636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1520" y="19202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6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24231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0048" y="2304288"/>
            <a:ext cx="237744" cy="23774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474720" y="1920240"/>
            <a:ext cx="1371600" cy="1005840"/>
          </a:xfrm>
          <a:prstGeom prst="roundRect">
            <a:avLst>
              <a:gd name="adj" fmla="val 636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3474720" y="19202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6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h2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3474720" y="24231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love</a:t>
            </a:r>
            <a:endParaRPr lang="en-US" sz="13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248" y="2304288"/>
            <a:ext cx="237744" cy="237744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217920" y="1920240"/>
            <a:ext cx="1371600" cy="1005840"/>
          </a:xfrm>
          <a:prstGeom prst="roundRect">
            <a:avLst>
              <a:gd name="adj" fmla="val 636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0"/>
          <p:cNvSpPr/>
          <p:nvPr/>
        </p:nvSpPr>
        <p:spPr>
          <a:xfrm>
            <a:off x="6217920" y="19202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6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h3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6217920" y="24231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13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6448" y="2304288"/>
            <a:ext cx="237744" cy="237744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8961120" y="1920240"/>
            <a:ext cx="1371600" cy="1005840"/>
          </a:xfrm>
          <a:prstGeom prst="roundRect">
            <a:avLst>
              <a:gd name="adj" fmla="val 636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3"/>
          <p:cNvSpPr/>
          <p:nvPr/>
        </p:nvSpPr>
        <p:spPr>
          <a:xfrm>
            <a:off x="8961120" y="19202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6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h4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8961120" y="24231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502920" y="315468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C6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time step passes its hidden state h to the next — carrying context forward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502920" y="3611880"/>
            <a:ext cx="5577840" cy="2651760"/>
          </a:xfrm>
          <a:prstGeom prst="roundRect">
            <a:avLst>
              <a:gd name="adj" fmla="val 2759"/>
            </a:avLst>
          </a:prstGeom>
          <a:solidFill>
            <a:srgbClr val="EBF0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777240" y="3813048"/>
            <a:ext cx="5029200" cy="411480"/>
          </a:xfrm>
          <a:prstGeom prst="roundRect">
            <a:avLst>
              <a:gd name="adj" fmla="val 48889"/>
            </a:avLst>
          </a:prstGeom>
          <a:solidFill>
            <a:srgbClr val="1E2761"/>
          </a:solidFill>
          <a:ln/>
        </p:spPr>
      </p:sp>
      <p:sp>
        <p:nvSpPr>
          <p:cNvPr id="24" name="Text 18"/>
          <p:cNvSpPr/>
          <p:nvPr/>
        </p:nvSpPr>
        <p:spPr>
          <a:xfrm>
            <a:off x="777240" y="381304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914400" y="4389120"/>
            <a:ext cx="4846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C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sequential / time-series data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C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 weights across all time steps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C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Suitable for language modelling, speech recognition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850392" y="4370832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sequential / time-series data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850392" y="4919472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 weights across all time steps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850392" y="5468112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Suitable for language modelling, speech recognition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6355080" y="3611880"/>
            <a:ext cx="5577840" cy="2651760"/>
          </a:xfrm>
          <a:prstGeom prst="roundRect">
            <a:avLst>
              <a:gd name="adj" fmla="val 2759"/>
            </a:avLst>
          </a:prstGeom>
          <a:solidFill>
            <a:srgbClr val="EBF0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6629400" y="3813048"/>
            <a:ext cx="5029200" cy="411480"/>
          </a:xfrm>
          <a:prstGeom prst="roundRect">
            <a:avLst>
              <a:gd name="adj" fmla="val 48889"/>
            </a:avLst>
          </a:prstGeom>
          <a:solidFill>
            <a:srgbClr val="5A1A2B"/>
          </a:solidFill>
          <a:ln/>
        </p:spPr>
      </p:sp>
      <p:sp>
        <p:nvSpPr>
          <p:cNvPr id="31" name="Text 25"/>
          <p:cNvSpPr/>
          <p:nvPr/>
        </p:nvSpPr>
        <p:spPr>
          <a:xfrm>
            <a:off x="6629400" y="381304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 — Vanishing Gradient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6766560" y="4389120"/>
            <a:ext cx="4846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C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Gradients shrink exponentially during backprop through time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C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effectively forgets long-range dependencies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C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cannot connect 'The cat …' to a verb 100 words later</a:t>
            </a:r>
            <a:endParaRPr lang="en-US" sz="1150" dirty="0"/>
          </a:p>
        </p:txBody>
      </p:sp>
      <p:sp>
        <p:nvSpPr>
          <p:cNvPr id="33" name="Text 27"/>
          <p:cNvSpPr/>
          <p:nvPr/>
        </p:nvSpPr>
        <p:spPr>
          <a:xfrm>
            <a:off x="6702552" y="4370832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Gradients shrink exponentially during backprop through time</a:t>
            </a:r>
            <a:endParaRPr lang="en-US" sz="1150" dirty="0"/>
          </a:p>
        </p:txBody>
      </p:sp>
      <p:sp>
        <p:nvSpPr>
          <p:cNvPr id="34" name="Text 28"/>
          <p:cNvSpPr/>
          <p:nvPr/>
        </p:nvSpPr>
        <p:spPr>
          <a:xfrm>
            <a:off x="6702552" y="4919472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effectively forgets long-range dependencies</a:t>
            </a:r>
            <a:endParaRPr lang="en-US" sz="1150" dirty="0"/>
          </a:p>
        </p:txBody>
      </p:sp>
      <p:sp>
        <p:nvSpPr>
          <p:cNvPr id="35" name="Text 29"/>
          <p:cNvSpPr/>
          <p:nvPr/>
        </p:nvSpPr>
        <p:spPr>
          <a:xfrm>
            <a:off x="6702552" y="5468112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cannot connect 'The cat …' to a verb 100 words later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502920" y="651052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NLP  |  LSTM Text Classification  |  NCAI Generative AI Internship</a:t>
            </a:r>
            <a:endParaRPr lang="en-US" sz="850" dirty="0"/>
          </a:p>
        </p:txBody>
      </p:sp>
      <p:sp>
        <p:nvSpPr>
          <p:cNvPr id="37" name="Text 31"/>
          <p:cNvSpPr/>
          <p:nvPr/>
        </p:nvSpPr>
        <p:spPr>
          <a:xfrm>
            <a:off x="11384280" y="651052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30352" cy="530352"/>
          </a:xfrm>
          <a:prstGeom prst="ellipse">
            <a:avLst/>
          </a:prstGeom>
          <a:solidFill>
            <a:srgbClr val="F6A62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49377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16152" y="338328"/>
            <a:ext cx="10469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 Short-Term Memory (LSTM)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02920" y="109728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solves the vanishing gradient problem by introducing a dedicated memory cell and three learnable gates that control information flow.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02920" y="182880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EBF0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58952" y="2029968"/>
            <a:ext cx="3054096" cy="438912"/>
          </a:xfrm>
          <a:prstGeom prst="roundRect">
            <a:avLst>
              <a:gd name="adj" fmla="val 50000"/>
            </a:avLst>
          </a:prstGeom>
          <a:solidFill>
            <a:srgbClr val="FF5A5F"/>
          </a:solidFill>
          <a:ln/>
        </p:spPr>
      </p:sp>
      <p:sp>
        <p:nvSpPr>
          <p:cNvPr id="8" name="Text 5"/>
          <p:cNvSpPr/>
          <p:nvPr/>
        </p:nvSpPr>
        <p:spPr>
          <a:xfrm>
            <a:off x="758952" y="2029968"/>
            <a:ext cx="30540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 Gate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58952" y="2596896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which information from the previous cell state should be DISCARDED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58952" y="3291840"/>
            <a:ext cx="305409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h(t-1) + x(t), outputs values 0–1 via sigmoid. 0 = forget, 1 = keep.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297680" y="182880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EBF0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53712" y="2029968"/>
            <a:ext cx="3054096" cy="438912"/>
          </a:xfrm>
          <a:prstGeom prst="roundRect">
            <a:avLst>
              <a:gd name="adj" fmla="val 50000"/>
            </a:avLst>
          </a:prstGeom>
          <a:solidFill>
            <a:srgbClr val="F6A623"/>
          </a:solidFill>
          <a:ln/>
        </p:spPr>
      </p:sp>
      <p:sp>
        <p:nvSpPr>
          <p:cNvPr id="13" name="Text 10"/>
          <p:cNvSpPr/>
          <p:nvPr/>
        </p:nvSpPr>
        <p:spPr>
          <a:xfrm>
            <a:off x="4553712" y="2029968"/>
            <a:ext cx="30540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Gate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53712" y="2596896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which NEW information to ADD to the cell state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53712" y="3291840"/>
            <a:ext cx="305409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selects what to update. Tanh creates candidate values. Together they update memory.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092440" y="182880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EBF0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348472" y="2029968"/>
            <a:ext cx="3054096" cy="438912"/>
          </a:xfrm>
          <a:prstGeom prst="roundRect">
            <a:avLst>
              <a:gd name="adj" fmla="val 50000"/>
            </a:avLst>
          </a:prstGeom>
          <a:solidFill>
            <a:srgbClr val="3A9E6F"/>
          </a:solidFill>
          <a:ln/>
        </p:spPr>
      </p:sp>
      <p:sp>
        <p:nvSpPr>
          <p:cNvPr id="18" name="Text 15"/>
          <p:cNvSpPr/>
          <p:nvPr/>
        </p:nvSpPr>
        <p:spPr>
          <a:xfrm>
            <a:off x="8348472" y="2029968"/>
            <a:ext cx="30540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Gate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348472" y="2596896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what part of the cell state to OUTPUT as h(t)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348472" y="3291840"/>
            <a:ext cx="305409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selects which cells to expose. Tanh squashes cell state. Product = new hidden state.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02920" y="5285232"/>
            <a:ext cx="11155680" cy="1051560"/>
          </a:xfrm>
          <a:prstGeom prst="roundRect">
            <a:avLst>
              <a:gd name="adj" fmla="val 608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85800" y="534924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6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Cell State  C(t)  =  f(t) ⊙ C(t-1)  +  i(t) ⊙ C̃(t)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85800" y="576072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forget gate  |  i = input gate  |  C̃ = candidate cell  |  ⊙ = element-wise multiplication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502920" y="651052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NLP  |  LSTM Text Classification  |  NCAI Generative AI Internship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11384280" y="651052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30352" cy="530352"/>
          </a:xfrm>
          <a:prstGeom prst="ellipse">
            <a:avLst/>
          </a:prstGeom>
          <a:solidFill>
            <a:srgbClr val="F6A62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49377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16152" y="338328"/>
            <a:ext cx="10469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Gated Recurrent Unit (GRU)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02920" y="109728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is a streamlined version of LSTM that merges the cell state and hidden state, requiring only two gates — making it faster to train with comparable accuracy.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02920" y="1828800"/>
            <a:ext cx="5577840" cy="2103120"/>
          </a:xfrm>
          <a:prstGeom prst="roundRect">
            <a:avLst>
              <a:gd name="adj" fmla="val 3478"/>
            </a:avLst>
          </a:prstGeom>
          <a:solidFill>
            <a:srgbClr val="EBF0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2029968"/>
            <a:ext cx="5029200" cy="438912"/>
          </a:xfrm>
          <a:prstGeom prst="roundRect">
            <a:avLst>
              <a:gd name="adj" fmla="val 50000"/>
            </a:avLst>
          </a:prstGeom>
          <a:solidFill>
            <a:srgbClr val="F6A623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2029968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Gate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2633472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how much of the previous hidden state carries forward — replacing both the forget and input gates of LSTM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355080" y="1828800"/>
            <a:ext cx="5577840" cy="2103120"/>
          </a:xfrm>
          <a:prstGeom prst="roundRect">
            <a:avLst>
              <a:gd name="adj" fmla="val 3478"/>
            </a:avLst>
          </a:prstGeom>
          <a:solidFill>
            <a:srgbClr val="EBF0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29400" y="2029968"/>
            <a:ext cx="5029200" cy="438912"/>
          </a:xfrm>
          <a:prstGeom prst="roundRect">
            <a:avLst>
              <a:gd name="adj" fmla="val 50000"/>
            </a:avLst>
          </a:prstGeom>
          <a:solidFill>
            <a:srgbClr val="3A5A9B"/>
          </a:solidFill>
          <a:ln/>
        </p:spPr>
      </p:sp>
      <p:sp>
        <p:nvSpPr>
          <p:cNvPr id="12" name="Text 9"/>
          <p:cNvSpPr/>
          <p:nvPr/>
        </p:nvSpPr>
        <p:spPr>
          <a:xfrm>
            <a:off x="6629400" y="2029968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Gate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629400" y="2633472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Determines how much of the past hidden state to IGNORE when computing the new candidate hidden state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0292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 vs  GRU — At a Glance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572000"/>
          <a:ext cx="11155680" cy="1938528"/>
        </p:xfrm>
        <a:graphic>
          <a:graphicData uri="http://schemas.openxmlformats.org/drawingml/2006/table">
            <a:tbl>
              <a:tblPr/>
              <a:tblGrid>
                <a:gridCol w="3718560"/>
                <a:gridCol w="3718560"/>
                <a:gridCol w="3718560"/>
              </a:tblGrid>
              <a:tr h="323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3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 (Forget, Input, Output)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 (Update, Reset)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3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 State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separate memory cell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merged with hidden state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3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— slower training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Fewer — faster training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3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Long-term Memory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Excellent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Good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3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 sequences, longer texts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Faster training, similar results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Text 12"/>
          <p:cNvSpPr/>
          <p:nvPr/>
        </p:nvSpPr>
        <p:spPr>
          <a:xfrm>
            <a:off x="502920" y="651052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NLP  |  LSTM Text Classification  |  NCAI Generative AI Internship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11384280" y="651052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30352" cy="530352"/>
          </a:xfrm>
          <a:prstGeom prst="ellipse">
            <a:avLst/>
          </a:prstGeom>
          <a:solidFill>
            <a:srgbClr val="F6A62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49377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16152" y="338328"/>
            <a:ext cx="10469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RNN vs LSTM vs GRU — Full Comparison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02920" y="109728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comparison of all three recurrent architectures across the key dimensions that matter for practical NLP tasks.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37360"/>
          <a:ext cx="11155680" cy="4114800"/>
        </p:xfrm>
        <a:graphic>
          <a:graphicData uri="http://schemas.openxmlformats.org/drawingml/2006/table">
            <a:tbl>
              <a:tblPr/>
              <a:tblGrid>
                <a:gridCol w="2788920"/>
                <a:gridCol w="2788920"/>
                <a:gridCol w="2788920"/>
                <a:gridCol w="2788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Short-term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Long-term (cell state)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Long-term (no separate cell)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— Forget, Input, 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— Update, Reset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 State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Vanishing Gradient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Suffers severely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Solved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Solved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Speed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Faster than LSTM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 Count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~75% of LSTM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(often similar to LSTM)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 sequences, simple tasks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 sequences, complex tasks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 of speed and 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02920" y="6035040"/>
            <a:ext cx="11155680" cy="548640"/>
          </a:xfrm>
          <a:prstGeom prst="roundRect">
            <a:avLst>
              <a:gd name="adj" fmla="val 1166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685800" y="60350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For most NLP tasks, GRU offers the best trade-off between training speed and accuracy. LSTM excels on very long sequences.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502920" y="651052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NLP  |  LSTM Text Classification  |  NCAI Generative AI Internship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11384280" y="651052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30352" cy="530352"/>
          </a:xfrm>
          <a:prstGeom prst="ellipse">
            <a:avLst/>
          </a:prstGeom>
          <a:solidFill>
            <a:srgbClr val="F6A62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49377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16152" y="338328"/>
            <a:ext cx="10469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Transformers Replaced Recurrent Models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Although LSTMs improved on RNNs dramatically, sequential processing still limited their speed. Transformers introduced self-attention — processing all words in parallel.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02920" y="1847088"/>
            <a:ext cx="5376672" cy="1810512"/>
          </a:xfrm>
          <a:prstGeom prst="roundRect">
            <a:avLst>
              <a:gd name="adj" fmla="val 404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58952" y="1984248"/>
            <a:ext cx="4864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Mechanism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58952" y="2414016"/>
            <a:ext cx="48646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passing one hidden state forward, every word directly attends to every other word in one step — no sequential bottleneck.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080760" y="1847088"/>
            <a:ext cx="5376672" cy="1810512"/>
          </a:xfrm>
          <a:prstGeom prst="roundRect">
            <a:avLst>
              <a:gd name="adj" fmla="val 4040"/>
            </a:avLst>
          </a:prstGeom>
          <a:solidFill>
            <a:srgbClr val="1A4A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336792" y="1984248"/>
            <a:ext cx="4864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Processing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336792" y="2414016"/>
            <a:ext cx="48646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positions processed simultaneously → exponentially faster training on GPUs. LSTM must wait for step t before computing step t+1.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02920" y="3858768"/>
            <a:ext cx="5376672" cy="1810512"/>
          </a:xfrm>
          <a:prstGeom prst="roundRect">
            <a:avLst>
              <a:gd name="adj" fmla="val 4040"/>
            </a:avLst>
          </a:prstGeom>
          <a:solidFill>
            <a:srgbClr val="3A1A4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58952" y="3995928"/>
            <a:ext cx="4864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Long-Range Dependencies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58952" y="4425696"/>
            <a:ext cx="48646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captures relationships between distant words with equal ease — no gradient must travel backwards through hundreds of time steps.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080760" y="3858768"/>
            <a:ext cx="5376672" cy="1810512"/>
          </a:xfrm>
          <a:prstGeom prst="roundRect">
            <a:avLst>
              <a:gd name="adj" fmla="val 4040"/>
            </a:avLst>
          </a:prstGeom>
          <a:solidFill>
            <a:srgbClr val="4A2A1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336792" y="3995928"/>
            <a:ext cx="4864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Modern LLMs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336792" y="4425696"/>
            <a:ext cx="48646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GPT, BERT, Gemini, Claude — every modern LLM is Transformer-based. Scaling laws show Transformers improve consistently with more data and parameters.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02920" y="6016752"/>
            <a:ext cx="11155680" cy="530352"/>
          </a:xfrm>
          <a:prstGeom prst="roundRect">
            <a:avLst>
              <a:gd name="adj" fmla="val 12069"/>
            </a:avLst>
          </a:prstGeom>
          <a:solidFill>
            <a:srgbClr val="F6A623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85800" y="6016752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notebook, all three architectures (LSTM, GRU, Transformer Encoder) are implemented and compared on the same dataset.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02920" y="651052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NLP  |  LSTM Text Classification  |  NCAI Generative AI Internship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11384280" y="651052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30352" cy="530352"/>
          </a:xfrm>
          <a:prstGeom prst="ellipse">
            <a:avLst/>
          </a:prstGeom>
          <a:solidFill>
            <a:srgbClr val="F6A62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49377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16152" y="338328"/>
            <a:ext cx="10469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Data Preparation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02920" y="109728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SMS Spam Collection Dataset (5,572 messages) is loaded, label-encoded, and split before tokenization for model input.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02920" y="1755648"/>
            <a:ext cx="2706624" cy="1298448"/>
          </a:xfrm>
          <a:prstGeom prst="roundRect">
            <a:avLst>
              <a:gd name="adj" fmla="val 563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02920" y="1847088"/>
            <a:ext cx="27066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6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5,572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502920" y="2423160"/>
            <a:ext cx="2706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Messages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10712" y="1755648"/>
            <a:ext cx="2706624" cy="1298448"/>
          </a:xfrm>
          <a:prstGeom prst="roundRect">
            <a:avLst>
              <a:gd name="adj" fmla="val 563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410712" y="1847088"/>
            <a:ext cx="27066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6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4,457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3410712" y="2423160"/>
            <a:ext cx="2706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Samples (80%)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318504" y="1755648"/>
            <a:ext cx="2706624" cy="1298448"/>
          </a:xfrm>
          <a:prstGeom prst="roundRect">
            <a:avLst>
              <a:gd name="adj" fmla="val 563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318504" y="1847088"/>
            <a:ext cx="27066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6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1,115</a:t>
            </a:r>
            <a:endParaRPr lang="en-US" sz="2700" dirty="0"/>
          </a:p>
        </p:txBody>
      </p:sp>
      <p:sp>
        <p:nvSpPr>
          <p:cNvPr id="14" name="Text 11"/>
          <p:cNvSpPr/>
          <p:nvPr/>
        </p:nvSpPr>
        <p:spPr>
          <a:xfrm>
            <a:off x="6318504" y="2423160"/>
            <a:ext cx="2706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Samples (20%)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9226296" y="1755648"/>
            <a:ext cx="2706624" cy="1298448"/>
          </a:xfrm>
          <a:prstGeom prst="roundRect">
            <a:avLst>
              <a:gd name="adj" fmla="val 563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9226296" y="1847088"/>
            <a:ext cx="27066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6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CUDA GPU</a:t>
            </a:r>
            <a:endParaRPr lang="en-US" sz="2700" dirty="0"/>
          </a:p>
        </p:txBody>
      </p:sp>
      <p:sp>
        <p:nvSpPr>
          <p:cNvPr id="17" name="Text 14"/>
          <p:cNvSpPr/>
          <p:nvPr/>
        </p:nvSpPr>
        <p:spPr>
          <a:xfrm>
            <a:off x="9226296" y="2423160"/>
            <a:ext cx="2706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Device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02920" y="3246120"/>
            <a:ext cx="2029968" cy="822960"/>
          </a:xfrm>
          <a:prstGeom prst="roundRect">
            <a:avLst>
              <a:gd name="adj" fmla="val 7778"/>
            </a:avLst>
          </a:prstGeom>
          <a:solidFill>
            <a:srgbClr val="2D4A8A"/>
          </a:solidFill>
          <a:ln/>
        </p:spPr>
      </p:sp>
      <p:sp>
        <p:nvSpPr>
          <p:cNvPr id="19" name="Text 16"/>
          <p:cNvSpPr/>
          <p:nvPr/>
        </p:nvSpPr>
        <p:spPr>
          <a:xfrm>
            <a:off x="502920" y="3246120"/>
            <a:ext cx="2029968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CSV</a:t>
            </a:r>
            <a:endParaRPr lang="en-US" sz="11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7460" y="3547872"/>
            <a:ext cx="219456" cy="219456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2761488" y="3246120"/>
            <a:ext cx="2029968" cy="822960"/>
          </a:xfrm>
          <a:prstGeom prst="roundRect">
            <a:avLst>
              <a:gd name="adj" fmla="val 7778"/>
            </a:avLst>
          </a:prstGeom>
          <a:solidFill>
            <a:srgbClr val="2D4A8A"/>
          </a:solidFill>
          <a:ln/>
        </p:spPr>
      </p:sp>
      <p:sp>
        <p:nvSpPr>
          <p:cNvPr id="22" name="Text 18"/>
          <p:cNvSpPr/>
          <p:nvPr/>
        </p:nvSpPr>
        <p:spPr>
          <a:xfrm>
            <a:off x="2761488" y="3246120"/>
            <a:ext cx="2029968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v1,v2</a:t>
            </a:r>
            <a:endParaRPr lang="en-US" sz="11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6028" y="3547872"/>
            <a:ext cx="219456" cy="219456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5020056" y="3246120"/>
            <a:ext cx="2029968" cy="822960"/>
          </a:xfrm>
          <a:prstGeom prst="roundRect">
            <a:avLst>
              <a:gd name="adj" fmla="val 7778"/>
            </a:avLst>
          </a:prstGeom>
          <a:solidFill>
            <a:srgbClr val="2D4A8A"/>
          </a:solidFill>
          <a:ln/>
        </p:spPr>
      </p:sp>
      <p:sp>
        <p:nvSpPr>
          <p:cNvPr id="25" name="Text 20"/>
          <p:cNvSpPr/>
          <p:nvPr/>
        </p:nvSpPr>
        <p:spPr>
          <a:xfrm>
            <a:off x="5020056" y="3246120"/>
            <a:ext cx="2029968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Columns</a:t>
            </a:r>
            <a:endParaRPr lang="en-US" sz="11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4596" y="3547872"/>
            <a:ext cx="219456" cy="219456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7278624" y="3246120"/>
            <a:ext cx="2029968" cy="822960"/>
          </a:xfrm>
          <a:prstGeom prst="roundRect">
            <a:avLst>
              <a:gd name="adj" fmla="val 7778"/>
            </a:avLst>
          </a:prstGeom>
          <a:solidFill>
            <a:srgbClr val="2D4A8A"/>
          </a:solidFill>
          <a:ln/>
        </p:spPr>
      </p:sp>
      <p:sp>
        <p:nvSpPr>
          <p:cNvPr id="28" name="Text 22"/>
          <p:cNvSpPr/>
          <p:nvPr/>
        </p:nvSpPr>
        <p:spPr>
          <a:xfrm>
            <a:off x="7278624" y="3246120"/>
            <a:ext cx="2029968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ham=0 / spam=1</a:t>
            </a:r>
            <a:endParaRPr lang="en-US" sz="110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3164" y="3547872"/>
            <a:ext cx="219456" cy="219456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9537192" y="3246120"/>
            <a:ext cx="2029968" cy="822960"/>
          </a:xfrm>
          <a:prstGeom prst="roundRect">
            <a:avLst>
              <a:gd name="adj" fmla="val 7778"/>
            </a:avLst>
          </a:prstGeom>
          <a:solidFill>
            <a:srgbClr val="F6A623"/>
          </a:solidFill>
          <a:ln/>
        </p:spPr>
      </p:sp>
      <p:sp>
        <p:nvSpPr>
          <p:cNvPr id="31" name="Text 24"/>
          <p:cNvSpPr/>
          <p:nvPr/>
        </p:nvSpPr>
        <p:spPr>
          <a:xfrm>
            <a:off x="9537192" y="3246120"/>
            <a:ext cx="2029968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Train-Test Split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502920" y="431596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 &amp; Padding Configuration</a:t>
            </a:r>
            <a:endParaRPr lang="en-US" sz="1400" dirty="0"/>
          </a:p>
        </p:txBody>
      </p:sp>
      <p:sp>
        <p:nvSpPr>
          <p:cNvPr id="33" name="Shape 26"/>
          <p:cNvSpPr/>
          <p:nvPr/>
        </p:nvSpPr>
        <p:spPr>
          <a:xfrm>
            <a:off x="502920" y="4709160"/>
            <a:ext cx="7223760" cy="1920240"/>
          </a:xfrm>
          <a:prstGeom prst="roundRect">
            <a:avLst>
              <a:gd name="adj" fmla="val 3333"/>
            </a:avLst>
          </a:prstGeom>
          <a:solidFill>
            <a:srgbClr val="0F1B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4" name="Text 27"/>
          <p:cNvSpPr/>
          <p:nvPr/>
        </p:nvSpPr>
        <p:spPr>
          <a:xfrm>
            <a:off x="731520" y="4846320"/>
            <a:ext cx="6766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MAX_WORDS  = 5000      # vocabulary size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MAX_LENGTH = 50        # fixed sequence length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tokenizer = Tokenizer(num_words=MAX_WORDS, oov_token='&lt;UNK&gt;')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tokenizer.fit_on_texts(X_train)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X_train_pad = pad_sequences(X_train_seq, maxlen=MAX_LENGTH,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padding='post', truncating='post')</a:t>
            </a:r>
            <a:endParaRPr lang="en-US" sz="950" dirty="0"/>
          </a:p>
        </p:txBody>
      </p:sp>
      <p:sp>
        <p:nvSpPr>
          <p:cNvPr id="35" name="Shape 28"/>
          <p:cNvSpPr/>
          <p:nvPr/>
        </p:nvSpPr>
        <p:spPr>
          <a:xfrm>
            <a:off x="7973568" y="4315968"/>
            <a:ext cx="3685032" cy="2313432"/>
          </a:xfrm>
          <a:prstGeom prst="roundRect">
            <a:avLst>
              <a:gd name="adj" fmla="val 3162"/>
            </a:avLst>
          </a:prstGeom>
          <a:solidFill>
            <a:srgbClr val="EBF0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6" name="Text 29"/>
          <p:cNvSpPr/>
          <p:nvPr/>
        </p:nvSpPr>
        <p:spPr>
          <a:xfrm>
            <a:off x="8229600" y="4498848"/>
            <a:ext cx="32461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Vocabulary: </a:t>
            </a:r>
            <a:pPr indent="0" marL="0">
              <a:buNone/>
            </a:pPr>
            <a:r>
              <a:rPr lang="en-US" sz="1100" dirty="0">
                <a:solidFill>
                  <a:srgbClr val="1C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7,919 unique words
</a:t>
            </a:r>
            <a:pPr indent="0" marL="0">
              <a:buNone/>
            </a:pPr>
            <a:r>
              <a:rPr lang="en-US" sz="1100" b="1" dirty="0">
                <a:solidFill>
                  <a:srgbClr val="1C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 cap: </a:t>
            </a:r>
            <a:pPr indent="0" marL="0">
              <a:buNone/>
            </a:pPr>
            <a:r>
              <a:rPr lang="en-US" sz="1100" dirty="0">
                <a:solidFill>
                  <a:srgbClr val="1C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5,000 only
</a:t>
            </a:r>
            <a:pPr indent="0" marL="0">
              <a:buNone/>
            </a:pPr>
            <a:r>
              <a:rPr lang="en-US" sz="1100" b="1" dirty="0">
                <a:solidFill>
                  <a:srgbClr val="1C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OOV token: </a:t>
            </a:r>
            <a:pPr indent="0" marL="0">
              <a:buNone/>
            </a:pPr>
            <a:r>
              <a:rPr lang="en-US" sz="1100" dirty="0">
                <a:solidFill>
                  <a:srgbClr val="1C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&lt;UNK&gt; for unseen words
</a:t>
            </a:r>
            <a:pPr indent="0" marL="0">
              <a:buNone/>
            </a:pPr>
            <a:r>
              <a:rPr lang="en-US" sz="1100" b="1" dirty="0">
                <a:solidFill>
                  <a:srgbClr val="1C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length: </a:t>
            </a:r>
            <a:pPr indent="0" marL="0">
              <a:buNone/>
            </a:pPr>
            <a:r>
              <a:rPr lang="en-US" sz="1100" dirty="0">
                <a:solidFill>
                  <a:srgbClr val="1C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tokens (post-pad)
</a:t>
            </a:r>
            <a:pPr indent="0" marL="0">
              <a:buNone/>
            </a:pPr>
            <a:r>
              <a:rPr lang="en-US" sz="1100" b="1" dirty="0">
                <a:solidFill>
                  <a:srgbClr val="1C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batches: </a:t>
            </a:r>
            <a:pPr indent="0" marL="0">
              <a:buNone/>
            </a:pPr>
            <a:r>
              <a:rPr lang="en-US" sz="1100" dirty="0">
                <a:solidFill>
                  <a:srgbClr val="1C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(batch size 64)
</a:t>
            </a:r>
            <a:pPr indent="0" marL="0">
              <a:buNone/>
            </a:pPr>
            <a:r>
              <a:rPr lang="en-US" sz="1100" b="1" dirty="0">
                <a:solidFill>
                  <a:srgbClr val="1C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batches: </a:t>
            </a:r>
            <a:pPr indent="0" marL="0">
              <a:buNone/>
            </a:pPr>
            <a:r>
              <a:rPr lang="en-US" sz="1100" dirty="0">
                <a:solidFill>
                  <a:srgbClr val="1C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37" name="Text 30"/>
          <p:cNvSpPr/>
          <p:nvPr/>
        </p:nvSpPr>
        <p:spPr>
          <a:xfrm>
            <a:off x="502920" y="651052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NLP  |  LSTM Text Classification  |  NCAI Generative AI Internship</a:t>
            </a:r>
            <a:endParaRPr lang="en-US" sz="850" dirty="0"/>
          </a:p>
        </p:txBody>
      </p:sp>
      <p:sp>
        <p:nvSpPr>
          <p:cNvPr id="38" name="Text 31"/>
          <p:cNvSpPr/>
          <p:nvPr/>
        </p:nvSpPr>
        <p:spPr>
          <a:xfrm>
            <a:off x="11384280" y="651052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30352" cy="530352"/>
          </a:xfrm>
          <a:prstGeom prst="ellipse">
            <a:avLst/>
          </a:prstGeom>
          <a:solidFill>
            <a:srgbClr val="F6A62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49377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16152" y="338328"/>
            <a:ext cx="10469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LSTM Model Architecture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02920" y="109728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LSTMClassifier is built in PyTorch: embedding → LSTM → dropout → fully-connected binary output with BCEWithLogitsLoss.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56032" y="1874520"/>
            <a:ext cx="2148840" cy="128016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256032" y="1874520"/>
            <a:ext cx="214884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(5000 × 128)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65760" y="2468880"/>
            <a:ext cx="1929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each integer token to a 128-dim dense vector</a:t>
            </a:r>
            <a:endParaRPr lang="en-US" sz="9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2395728"/>
            <a:ext cx="237744" cy="23774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587752" y="1874520"/>
            <a:ext cx="2148840" cy="128016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2587752" y="1874520"/>
            <a:ext cx="214884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(128 hidden)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697480" y="2468880"/>
            <a:ext cx="1929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sequence; hidden state captures context</a:t>
            </a:r>
            <a:endParaRPr lang="en-US" sz="9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2395728"/>
            <a:ext cx="237744" cy="237744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919472" y="1874520"/>
            <a:ext cx="2148840" cy="128016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0"/>
          <p:cNvSpPr/>
          <p:nvPr/>
        </p:nvSpPr>
        <p:spPr>
          <a:xfrm>
            <a:off x="4919472" y="1874520"/>
            <a:ext cx="214884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(30%)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5029200" y="2468880"/>
            <a:ext cx="1929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 — prevents overfitting</a:t>
            </a:r>
            <a:endParaRPr lang="en-US" sz="9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2395728"/>
            <a:ext cx="237744" cy="237744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7251192" y="1874520"/>
            <a:ext cx="2148840" cy="128016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3"/>
          <p:cNvSpPr/>
          <p:nvPr/>
        </p:nvSpPr>
        <p:spPr>
          <a:xfrm>
            <a:off x="7251192" y="1874520"/>
            <a:ext cx="214884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(128 → 1)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7360920" y="2468880"/>
            <a:ext cx="1929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logit output for binary classification</a:t>
            </a:r>
            <a:endParaRPr lang="en-US" sz="9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0" y="2395728"/>
            <a:ext cx="237744" cy="237744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9582912" y="1874520"/>
            <a:ext cx="2148840" cy="1280160"/>
          </a:xfrm>
          <a:prstGeom prst="roundRect">
            <a:avLst>
              <a:gd name="adj" fmla="val 5714"/>
            </a:avLst>
          </a:prstGeom>
          <a:solidFill>
            <a:srgbClr val="F6A623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Text 16"/>
          <p:cNvSpPr/>
          <p:nvPr/>
        </p:nvSpPr>
        <p:spPr>
          <a:xfrm>
            <a:off x="9582912" y="1874520"/>
            <a:ext cx="214884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0.5 = Spam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9692640" y="2468880"/>
            <a:ext cx="1929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logit to probability</a:t>
            </a:r>
            <a:endParaRPr lang="en-US" sz="900" dirty="0"/>
          </a:p>
        </p:txBody>
      </p:sp>
      <p:sp>
        <p:nvSpPr>
          <p:cNvPr id="25" name="Shape 18"/>
          <p:cNvSpPr/>
          <p:nvPr/>
        </p:nvSpPr>
        <p:spPr>
          <a:xfrm>
            <a:off x="502920" y="3337560"/>
            <a:ext cx="5394960" cy="2880360"/>
          </a:xfrm>
          <a:prstGeom prst="roundRect">
            <a:avLst>
              <a:gd name="adj" fmla="val 2540"/>
            </a:avLst>
          </a:prstGeom>
          <a:solidFill>
            <a:srgbClr val="EBF0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Text 19"/>
          <p:cNvSpPr/>
          <p:nvPr/>
        </p:nvSpPr>
        <p:spPr>
          <a:xfrm>
            <a:off x="731520" y="352044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 — BCEWithLogitsLoss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731520" y="3931920"/>
            <a:ext cx="49377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C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plain BCE?  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C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BCEWithLogitsLoss combines sigmoid + cross-entropy in one numerically stable operation, avoiding floating-point issues near 0 and 1.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C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Handling:  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C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pos_weight = 4825 / 747 ≈ 6.46  tells the loss to penalise missed spam messages 6× more heavily than missed ham.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144768" y="3337560"/>
            <a:ext cx="5513832" cy="2880360"/>
          </a:xfrm>
          <a:prstGeom prst="roundRect">
            <a:avLst>
              <a:gd name="adj" fmla="val 2222"/>
            </a:avLst>
          </a:prstGeom>
          <a:solidFill>
            <a:srgbClr val="0F1B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Text 22"/>
          <p:cNvSpPr/>
          <p:nvPr/>
        </p:nvSpPr>
        <p:spPr>
          <a:xfrm>
            <a:off x="6373368" y="3474720"/>
            <a:ext cx="505663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LSTMClassifier(nn.Module):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 __init__(self, vocab_size, embed_dim=128,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hidden_dim=128, output_dim=1):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super().__init__()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self.embedding = nn.Embedding(vocab_size, embed_dim,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padding_idx=0)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self.lstm = nn.LSTM(embed_dim, hidden_dim,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batch_first=True)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self.dropout = nn.Dropout(0.3)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self.fc = nn.Linear(hidden_dim, output_dim)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 forward(self, x):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= self.embedding(x)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_, (hidden, _) = self.lstm(x)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= self.dropout(hidden[-1])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self.fc(x).squeeze()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502920" y="651052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NLP  |  LSTM Text Classification  |  NCAI Generative AI Internship</a:t>
            </a:r>
            <a:endParaRPr lang="en-US" sz="850" dirty="0"/>
          </a:p>
        </p:txBody>
      </p:sp>
      <p:sp>
        <p:nvSpPr>
          <p:cNvPr id="31" name="Text 24"/>
          <p:cNvSpPr/>
          <p:nvPr/>
        </p:nvSpPr>
        <p:spPr>
          <a:xfrm>
            <a:off x="11384280" y="651052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30352" cy="530352"/>
          </a:xfrm>
          <a:prstGeom prst="ellipse">
            <a:avLst/>
          </a:prstGeom>
          <a:solidFill>
            <a:srgbClr val="F6A62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49377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16152" y="338328"/>
            <a:ext cx="10469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LSTM Training &amp; Evaluation Results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02920" y="109728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for 10 epochs with Adam (lr=0.001) on CPU. Loss decreased steadily after epoch 5; accuracy converged to ~91% by epoch 9.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1874520"/>
          <a:ext cx="54864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6144768" y="1874520"/>
          <a:ext cx="5513832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 3"/>
          <p:cNvSpPr/>
          <p:nvPr/>
        </p:nvSpPr>
        <p:spPr>
          <a:xfrm>
            <a:off x="502920" y="5120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Results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5486400"/>
          <a:ext cx="7772400" cy="1170432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  <a:gridCol w="1554480"/>
                <a:gridCol w="1554480"/>
                <a:gridCol w="15544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0.9871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4"/>
          <p:cNvSpPr/>
          <p:nvPr/>
        </p:nvSpPr>
        <p:spPr>
          <a:xfrm>
            <a:off x="8458200" y="5138928"/>
            <a:ext cx="3200400" cy="1508760"/>
          </a:xfrm>
          <a:prstGeom prst="roundRect">
            <a:avLst>
              <a:gd name="adj" fmla="val 484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5"/>
          <p:cNvSpPr/>
          <p:nvPr/>
        </p:nvSpPr>
        <p:spPr>
          <a:xfrm>
            <a:off x="8458200" y="52578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Test Accuracy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8458200" y="555955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6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88.07%</a:t>
            </a:r>
            <a:endParaRPr lang="en-US" sz="3800" dirty="0"/>
          </a:p>
        </p:txBody>
      </p:sp>
      <p:sp>
        <p:nvSpPr>
          <p:cNvPr id="13" name="Text 7"/>
          <p:cNvSpPr/>
          <p:nvPr/>
        </p:nvSpPr>
        <p:spPr>
          <a:xfrm>
            <a:off x="502920" y="651052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NLP  |  LSTM Text Classification  |  NCAI Generative AI Internship</a:t>
            </a:r>
            <a:endParaRPr lang="en-US" sz="850" dirty="0"/>
          </a:p>
        </p:txBody>
      </p:sp>
      <p:sp>
        <p:nvSpPr>
          <p:cNvPr id="14" name="Text 8"/>
          <p:cNvSpPr/>
          <p:nvPr/>
        </p:nvSpPr>
        <p:spPr>
          <a:xfrm>
            <a:off x="11384280" y="651052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30352" cy="530352"/>
          </a:xfrm>
          <a:prstGeom prst="ellipse">
            <a:avLst/>
          </a:prstGeom>
          <a:solidFill>
            <a:srgbClr val="F6A62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49377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16152" y="338328"/>
            <a:ext cx="10469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GRU Model Architecture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02920" y="109728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GRUClassifier mirrors the LSTM architecture but replaces the LSTM cell with a GRU — fewer parameters, faster training, no separate cell state.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56032" y="1847088"/>
            <a:ext cx="2148840" cy="1298448"/>
          </a:xfrm>
          <a:prstGeom prst="roundRect">
            <a:avLst>
              <a:gd name="adj" fmla="val 563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256032" y="1847088"/>
            <a:ext cx="214884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(5000 × 128)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65760" y="2468880"/>
            <a:ext cx="1929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embedding as LSTM</a:t>
            </a:r>
            <a:endParaRPr lang="en-US" sz="8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6584" y="2386584"/>
            <a:ext cx="219456" cy="21945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587752" y="1847088"/>
            <a:ext cx="2148840" cy="1298448"/>
          </a:xfrm>
          <a:prstGeom prst="roundRect">
            <a:avLst>
              <a:gd name="adj" fmla="val 563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2587752" y="1847088"/>
            <a:ext cx="214884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(128 hidden)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697480" y="2468880"/>
            <a:ext cx="1929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+ Reset gates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cell state needed</a:t>
            </a:r>
            <a:endParaRPr lang="en-US" sz="8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8304" y="2386584"/>
            <a:ext cx="219456" cy="219456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919472" y="1847088"/>
            <a:ext cx="2148840" cy="1298448"/>
          </a:xfrm>
          <a:prstGeom prst="roundRect">
            <a:avLst>
              <a:gd name="adj" fmla="val 563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0"/>
          <p:cNvSpPr/>
          <p:nvPr/>
        </p:nvSpPr>
        <p:spPr>
          <a:xfrm>
            <a:off x="4919472" y="1847088"/>
            <a:ext cx="214884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(30%)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5029200" y="2468880"/>
            <a:ext cx="1929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</a:t>
            </a:r>
            <a:endParaRPr lang="en-US" sz="8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0024" y="2386584"/>
            <a:ext cx="219456" cy="219456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7251192" y="1847088"/>
            <a:ext cx="2148840" cy="1298448"/>
          </a:xfrm>
          <a:prstGeom prst="roundRect">
            <a:avLst>
              <a:gd name="adj" fmla="val 563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3"/>
          <p:cNvSpPr/>
          <p:nvPr/>
        </p:nvSpPr>
        <p:spPr>
          <a:xfrm>
            <a:off x="7251192" y="1847088"/>
            <a:ext cx="214884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(128 → 1)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7360920" y="2468880"/>
            <a:ext cx="1929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output</a:t>
            </a:r>
            <a:endParaRPr lang="en-US" sz="85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1744" y="2386584"/>
            <a:ext cx="219456" cy="219456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9582912" y="1847088"/>
            <a:ext cx="2148840" cy="1298448"/>
          </a:xfrm>
          <a:prstGeom prst="roundRect">
            <a:avLst>
              <a:gd name="adj" fmla="val 5634"/>
            </a:avLst>
          </a:prstGeom>
          <a:solidFill>
            <a:srgbClr val="3A9E6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Text 16"/>
          <p:cNvSpPr/>
          <p:nvPr/>
        </p:nvSpPr>
        <p:spPr>
          <a:xfrm>
            <a:off x="9582912" y="1847088"/>
            <a:ext cx="214884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0.5 = Spam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9692640" y="2468880"/>
            <a:ext cx="1929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prediction</a:t>
            </a:r>
            <a:endParaRPr lang="en-US" sz="850" dirty="0"/>
          </a:p>
        </p:txBody>
      </p:sp>
      <p:sp>
        <p:nvSpPr>
          <p:cNvPr id="25" name="Shape 18"/>
          <p:cNvSpPr/>
          <p:nvPr/>
        </p:nvSpPr>
        <p:spPr>
          <a:xfrm>
            <a:off x="502920" y="3310128"/>
            <a:ext cx="5513832" cy="3337560"/>
          </a:xfrm>
          <a:prstGeom prst="roundRect">
            <a:avLst>
              <a:gd name="adj" fmla="val 1918"/>
            </a:avLst>
          </a:prstGeom>
          <a:solidFill>
            <a:srgbClr val="0F1B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Text 19"/>
          <p:cNvSpPr/>
          <p:nvPr/>
        </p:nvSpPr>
        <p:spPr>
          <a:xfrm>
            <a:off x="731520" y="3447288"/>
            <a:ext cx="505663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GRUClassifier(nn.Module):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 __init__(self, vocab_size, embedding_dim=128,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hidden_dim=128, output_dim=1):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super().__init__()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self.embedding = nn.Embedding(vocab_size,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embedding_dim,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padding_idx=0)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self.gru = nn.GRU(input_size=embedding_dim,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hidden_size=hidden_dim,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num_layers=1, batch_first=True)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self.dropout = nn.Dropout(0.3)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self.fc = nn.Linear(hidden_dim, output_dim)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 forward(self, x):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  = self.embedding(x)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_, hidden = self.gru(x)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  = self.dropout(hidden[-1])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self.fc(x).squeeze()</a:t>
            </a:r>
            <a:endParaRPr lang="en-US" sz="950" dirty="0"/>
          </a:p>
        </p:txBody>
      </p:sp>
      <p:sp>
        <p:nvSpPr>
          <p:cNvPr id="27" name="Shape 20"/>
          <p:cNvSpPr/>
          <p:nvPr/>
        </p:nvSpPr>
        <p:spPr>
          <a:xfrm>
            <a:off x="6190488" y="3310128"/>
            <a:ext cx="5468112" cy="3337560"/>
          </a:xfrm>
          <a:prstGeom prst="roundRect">
            <a:avLst>
              <a:gd name="adj" fmla="val 2192"/>
            </a:avLst>
          </a:prstGeom>
          <a:solidFill>
            <a:srgbClr val="EBF0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8" name="Text 21"/>
          <p:cNvSpPr/>
          <p:nvPr/>
        </p:nvSpPr>
        <p:spPr>
          <a:xfrm>
            <a:off x="6446520" y="349300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Details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6446520" y="3913632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Epochs:  </a:t>
            </a:r>
            <a:pPr indent="0" marL="0">
              <a:buNone/>
            </a:pPr>
            <a:r>
              <a:rPr lang="en-US" sz="1150" dirty="0">
                <a:solidFill>
                  <a:srgbClr val="1C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(vs 10 for LSTM)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6446520" y="4352544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Optimizer:  </a:t>
            </a:r>
            <a:pPr indent="0" marL="0">
              <a:buNone/>
            </a:pPr>
            <a:r>
              <a:rPr lang="en-US" sz="1150" dirty="0">
                <a:solidFill>
                  <a:srgbClr val="1C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(lr=0.001)</a:t>
            </a:r>
            <a:endParaRPr lang="en-US" sz="1150" dirty="0"/>
          </a:p>
        </p:txBody>
      </p:sp>
      <p:sp>
        <p:nvSpPr>
          <p:cNvPr id="31" name="Text 24"/>
          <p:cNvSpPr/>
          <p:nvPr/>
        </p:nvSpPr>
        <p:spPr>
          <a:xfrm>
            <a:off x="6446520" y="4791456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  </a:t>
            </a:r>
            <a:pPr indent="0" marL="0">
              <a:buNone/>
            </a:pPr>
            <a:r>
              <a:rPr lang="en-US" sz="1150" dirty="0">
                <a:solidFill>
                  <a:srgbClr val="1C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BCEWithLogitsLoss (no pos_weight)</a:t>
            </a:r>
            <a:endParaRPr lang="en-US" sz="1150" dirty="0"/>
          </a:p>
        </p:txBody>
      </p:sp>
      <p:sp>
        <p:nvSpPr>
          <p:cNvPr id="32" name="Text 25"/>
          <p:cNvSpPr/>
          <p:nvPr/>
        </p:nvSpPr>
        <p:spPr>
          <a:xfrm>
            <a:off x="6446520" y="5230368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Size:  </a:t>
            </a:r>
            <a:pPr indent="0" marL="0">
              <a:buNone/>
            </a:pPr>
            <a:r>
              <a:rPr lang="en-US" sz="1150" dirty="0">
                <a:solidFill>
                  <a:srgbClr val="1C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150" dirty="0"/>
          </a:p>
        </p:txBody>
      </p:sp>
      <p:sp>
        <p:nvSpPr>
          <p:cNvPr id="33" name="Text 26"/>
          <p:cNvSpPr/>
          <p:nvPr/>
        </p:nvSpPr>
        <p:spPr>
          <a:xfrm>
            <a:off x="6446520" y="5669280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Epoch 1:  </a:t>
            </a:r>
            <a:pPr indent="0" marL="0">
              <a:buNone/>
            </a:pPr>
            <a:r>
              <a:rPr lang="en-US" sz="1150" dirty="0">
                <a:solidFill>
                  <a:srgbClr val="1C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0.4146</a:t>
            </a:r>
            <a:endParaRPr lang="en-US" sz="1150" dirty="0"/>
          </a:p>
        </p:txBody>
      </p:sp>
      <p:sp>
        <p:nvSpPr>
          <p:cNvPr id="34" name="Text 27"/>
          <p:cNvSpPr/>
          <p:nvPr/>
        </p:nvSpPr>
        <p:spPr>
          <a:xfrm>
            <a:off x="6446520" y="6108192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Epoch 5:  </a:t>
            </a:r>
            <a:pPr indent="0" marL="0">
              <a:buNone/>
            </a:pPr>
            <a:r>
              <a:rPr lang="en-US" sz="1150" dirty="0">
                <a:solidFill>
                  <a:srgbClr val="1C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0.0687 — fast convergence!</a:t>
            </a:r>
            <a:endParaRPr lang="en-US" sz="1150" dirty="0"/>
          </a:p>
        </p:txBody>
      </p:sp>
      <p:sp>
        <p:nvSpPr>
          <p:cNvPr id="35" name="Text 28"/>
          <p:cNvSpPr/>
          <p:nvPr/>
        </p:nvSpPr>
        <p:spPr>
          <a:xfrm>
            <a:off x="502920" y="651052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NLP  |  LSTM Text Classification  |  NCAI Generative AI Internship</a:t>
            </a:r>
            <a:endParaRPr lang="en-US" sz="850" dirty="0"/>
          </a:p>
        </p:txBody>
      </p:sp>
      <p:sp>
        <p:nvSpPr>
          <p:cNvPr id="36" name="Text 29"/>
          <p:cNvSpPr/>
          <p:nvPr/>
        </p:nvSpPr>
        <p:spPr>
          <a:xfrm>
            <a:off x="11384280" y="651052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30352" cy="530352"/>
          </a:xfrm>
          <a:prstGeom prst="ellipse">
            <a:avLst/>
          </a:prstGeom>
          <a:solidFill>
            <a:srgbClr val="F6A62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49377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16152" y="338328"/>
            <a:ext cx="10469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GRU Training &amp; Evaluation Results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02920" y="109728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converged in just 5 epochs — far faster than LSTM — with dramatically better accuracy thanks to its focused gating mechanism and no class-weighting bias.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1874520"/>
          <a:ext cx="54864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6144768" y="1874520"/>
            <a:ext cx="5513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Report — GRU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44768" y="2286000"/>
          <a:ext cx="5513832" cy="1417320"/>
        </p:xfrm>
        <a:graphic>
          <a:graphicData uri="http://schemas.openxmlformats.org/drawingml/2006/table">
            <a:tbl>
              <a:tblPr/>
              <a:tblGrid>
                <a:gridCol w="1378458"/>
                <a:gridCol w="1378458"/>
                <a:gridCol w="1378458"/>
                <a:gridCol w="1378458"/>
              </a:tblGrid>
              <a:tr h="3543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Avg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6144768" y="3840480"/>
            <a:ext cx="5513832" cy="1143000"/>
          </a:xfrm>
          <a:prstGeom prst="roundRect">
            <a:avLst>
              <a:gd name="adj" fmla="val 6400"/>
            </a:avLst>
          </a:prstGeom>
          <a:solidFill>
            <a:srgbClr val="3A9E6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5"/>
          <p:cNvSpPr/>
          <p:nvPr/>
        </p:nvSpPr>
        <p:spPr>
          <a:xfrm>
            <a:off x="6144768" y="3931920"/>
            <a:ext cx="5513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Test Accuracy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6144768" y="4224528"/>
            <a:ext cx="55138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97.04%</a:t>
            </a:r>
            <a:endParaRPr lang="en-US" sz="3800" dirty="0"/>
          </a:p>
        </p:txBody>
      </p:sp>
      <p:sp>
        <p:nvSpPr>
          <p:cNvPr id="12" name="Shape 7"/>
          <p:cNvSpPr/>
          <p:nvPr/>
        </p:nvSpPr>
        <p:spPr>
          <a:xfrm>
            <a:off x="502920" y="5120640"/>
            <a:ext cx="11155680" cy="1417320"/>
          </a:xfrm>
          <a:prstGeom prst="roundRect">
            <a:avLst>
              <a:gd name="adj" fmla="val 5161"/>
            </a:avLst>
          </a:prstGeom>
          <a:solidFill>
            <a:srgbClr val="EBF0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8"/>
          <p:cNvSpPr/>
          <p:nvPr/>
        </p:nvSpPr>
        <p:spPr>
          <a:xfrm>
            <a:off x="731520" y="5257800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vs LSTM — Why Such a Big Jump?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731520" y="56235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LSTM used pos_weight (~6.46) which over-penalized spam misses → aggressive recall, poor precision.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GRU used standard BCE with no weighting → more balanced optimization → higher overall accuracy.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502920" y="651052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NLP  |  LSTM Text Classification  |  NCAI Generative AI Internship</a:t>
            </a:r>
            <a:endParaRPr lang="en-US" sz="850" dirty="0"/>
          </a:p>
        </p:txBody>
      </p:sp>
      <p:sp>
        <p:nvSpPr>
          <p:cNvPr id="16" name="Text 11"/>
          <p:cNvSpPr/>
          <p:nvPr/>
        </p:nvSpPr>
        <p:spPr>
          <a:xfrm>
            <a:off x="11384280" y="651052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30352" cy="530352"/>
          </a:xfrm>
          <a:prstGeom prst="ellipse">
            <a:avLst/>
          </a:prstGeom>
          <a:solidFill>
            <a:srgbClr val="F6A62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49377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16152" y="338328"/>
            <a:ext cx="10469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Transformer Encoder Architecture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02920" y="109728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TransformerClassifier uses positional encoding + multi-head self-attention, allowing every token to attend to every other token simultaneously.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56032" y="1828800"/>
            <a:ext cx="2148840" cy="1353312"/>
          </a:xfrm>
          <a:prstGeom prst="roundRect">
            <a:avLst>
              <a:gd name="adj" fmla="val 540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256032" y="1828800"/>
            <a:ext cx="214884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(5000×128)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47472" y="2450592"/>
            <a:ext cx="1965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→ dense vector</a:t>
            </a:r>
            <a:endParaRPr lang="en-US" sz="8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6584" y="2395728"/>
            <a:ext cx="219456" cy="21945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587752" y="1828800"/>
            <a:ext cx="2148840" cy="1353312"/>
          </a:xfrm>
          <a:prstGeom prst="roundRect">
            <a:avLst>
              <a:gd name="adj" fmla="val 540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2587752" y="1828800"/>
            <a:ext cx="214884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2679192" y="2450592"/>
            <a:ext cx="1965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position info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(sin/cos functions)</a:t>
            </a:r>
            <a:endParaRPr lang="en-US" sz="8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8304" y="2395728"/>
            <a:ext cx="219456" cy="219456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919472" y="1828800"/>
            <a:ext cx="2148840" cy="1353312"/>
          </a:xfrm>
          <a:prstGeom prst="roundRect">
            <a:avLst>
              <a:gd name="adj" fmla="val 5405"/>
            </a:avLst>
          </a:prstGeom>
          <a:solidFill>
            <a:srgbClr val="3A1A4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0"/>
          <p:cNvSpPr/>
          <p:nvPr/>
        </p:nvSpPr>
        <p:spPr>
          <a:xfrm>
            <a:off x="4919472" y="1828800"/>
            <a:ext cx="214884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×2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5010912" y="2450592"/>
            <a:ext cx="1965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 attention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Feed-forward (256)</a:t>
            </a:r>
            <a:endParaRPr lang="en-US" sz="8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0024" y="2395728"/>
            <a:ext cx="219456" cy="219456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7251192" y="1828800"/>
            <a:ext cx="2148840" cy="1353312"/>
          </a:xfrm>
          <a:prstGeom prst="roundRect">
            <a:avLst>
              <a:gd name="adj" fmla="val 540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3"/>
          <p:cNvSpPr/>
          <p:nvPr/>
        </p:nvSpPr>
        <p:spPr>
          <a:xfrm>
            <a:off x="7251192" y="1828800"/>
            <a:ext cx="214884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Pooling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7342632" y="2450592"/>
            <a:ext cx="1965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across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dimension</a:t>
            </a:r>
            <a:endParaRPr lang="en-US" sz="85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1744" y="2395728"/>
            <a:ext cx="219456" cy="219456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9582912" y="1828800"/>
            <a:ext cx="2148840" cy="1353312"/>
          </a:xfrm>
          <a:prstGeom prst="roundRect">
            <a:avLst>
              <a:gd name="adj" fmla="val 5405"/>
            </a:avLst>
          </a:prstGeom>
          <a:solidFill>
            <a:srgbClr val="3A9E6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Text 16"/>
          <p:cNvSpPr/>
          <p:nvPr/>
        </p:nvSpPr>
        <p:spPr>
          <a:xfrm>
            <a:off x="9582912" y="1828800"/>
            <a:ext cx="214884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Linear</a:t>
            </a:r>
            <a:endParaRPr lang="en-US" sz="1150" dirty="0"/>
          </a:p>
        </p:txBody>
      </p:sp>
      <p:sp>
        <p:nvSpPr>
          <p:cNvPr id="24" name="Text 17"/>
          <p:cNvSpPr/>
          <p:nvPr/>
        </p:nvSpPr>
        <p:spPr>
          <a:xfrm>
            <a:off x="9674352" y="2450592"/>
            <a:ext cx="1965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→ 1 output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prediction</a:t>
            </a:r>
            <a:endParaRPr lang="en-US" sz="850" dirty="0"/>
          </a:p>
        </p:txBody>
      </p:sp>
      <p:sp>
        <p:nvSpPr>
          <p:cNvPr id="25" name="Shape 18"/>
          <p:cNvSpPr/>
          <p:nvPr/>
        </p:nvSpPr>
        <p:spPr>
          <a:xfrm>
            <a:off x="502920" y="3337560"/>
            <a:ext cx="5394960" cy="1444752"/>
          </a:xfrm>
          <a:prstGeom prst="roundRect">
            <a:avLst>
              <a:gd name="adj" fmla="val 5063"/>
            </a:avLst>
          </a:prstGeom>
          <a:solidFill>
            <a:srgbClr val="EBF0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Text 19"/>
          <p:cNvSpPr/>
          <p:nvPr/>
        </p:nvSpPr>
        <p:spPr>
          <a:xfrm>
            <a:off x="731520" y="34747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 Encoding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731520" y="3822192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have no inherent sense of order. Positional encoding adds sine/cosine signals at different frequencies to embed position. PE(pos, 2i) = sin(pos / 10000^(2i/d))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6144768" y="3337560"/>
            <a:ext cx="5513832" cy="1444752"/>
          </a:xfrm>
          <a:prstGeom prst="roundRect">
            <a:avLst>
              <a:gd name="adj" fmla="val 5063"/>
            </a:avLst>
          </a:prstGeom>
          <a:solidFill>
            <a:srgbClr val="3A1A4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Text 22"/>
          <p:cNvSpPr/>
          <p:nvPr/>
        </p:nvSpPr>
        <p:spPr>
          <a:xfrm>
            <a:off x="6373368" y="347472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 Self-Attention (4 heads)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6373368" y="3822192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parallel attention heads each learn different aspects of word relationships (syntax, semantics, coreference …). Outputs are concatenated and projected back to 128-dim.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502920" y="4846320"/>
            <a:ext cx="11155680" cy="1737360"/>
          </a:xfrm>
          <a:prstGeom prst="roundRect">
            <a:avLst>
              <a:gd name="adj" fmla="val 3684"/>
            </a:avLst>
          </a:prstGeom>
          <a:solidFill>
            <a:srgbClr val="0F1B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2" name="Text 25"/>
          <p:cNvSpPr/>
          <p:nvPr/>
        </p:nvSpPr>
        <p:spPr>
          <a:xfrm>
            <a:off x="731520" y="4910328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TransformerClassifier Config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731520" y="5193792"/>
            <a:ext cx="106984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TransformerClassifier(vocab_size=5000,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embed_dim=128, num_heads=4,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hidden_dim=256, num_layers=2)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optimizer = torch.optim.Adam(model.parameters(), lr=0.0005)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gradient clipping: clip_grad_norm_(model.parameters(), 1.0)</a:t>
            </a:r>
            <a:endParaRPr lang="en-US" sz="950" dirty="0"/>
          </a:p>
        </p:txBody>
      </p:sp>
      <p:sp>
        <p:nvSpPr>
          <p:cNvPr id="34" name="Text 27"/>
          <p:cNvSpPr/>
          <p:nvPr/>
        </p:nvSpPr>
        <p:spPr>
          <a:xfrm>
            <a:off x="502920" y="651052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NLP  |  LSTM Text Classification  |  NCAI Generative AI Internship</a:t>
            </a:r>
            <a:endParaRPr lang="en-US" sz="850" dirty="0"/>
          </a:p>
        </p:txBody>
      </p:sp>
      <p:sp>
        <p:nvSpPr>
          <p:cNvPr id="35" name="Text 28"/>
          <p:cNvSpPr/>
          <p:nvPr/>
        </p:nvSpPr>
        <p:spPr>
          <a:xfrm>
            <a:off x="11384280" y="651052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30352" cy="530352"/>
          </a:xfrm>
          <a:prstGeom prst="ellipse">
            <a:avLst/>
          </a:prstGeom>
          <a:solidFill>
            <a:srgbClr val="F6A62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49377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16152" y="338328"/>
            <a:ext cx="10469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Transformer Training &amp; Evaluation Results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02920" y="109728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for 5 epochs with Adam (lr=0.0005). Achieved the best results of all three models with rapid, stable convergence.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1874520"/>
          <a:ext cx="54864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6144768" y="1874520"/>
            <a:ext cx="5513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Report — Transformer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44768" y="2286000"/>
          <a:ext cx="5513832" cy="1417320"/>
        </p:xfrm>
        <a:graphic>
          <a:graphicData uri="http://schemas.openxmlformats.org/drawingml/2006/table">
            <a:tbl>
              <a:tblPr/>
              <a:tblGrid>
                <a:gridCol w="1378458"/>
                <a:gridCol w="1378458"/>
                <a:gridCol w="1378458"/>
                <a:gridCol w="1378458"/>
              </a:tblGrid>
              <a:tr h="3543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0.9959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Avg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6144768" y="3840480"/>
            <a:ext cx="5513832" cy="1143000"/>
          </a:xfrm>
          <a:prstGeom prst="roundRect">
            <a:avLst>
              <a:gd name="adj" fmla="val 6400"/>
            </a:avLst>
          </a:prstGeom>
          <a:solidFill>
            <a:srgbClr val="5A1A8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5"/>
          <p:cNvSpPr/>
          <p:nvPr/>
        </p:nvSpPr>
        <p:spPr>
          <a:xfrm>
            <a:off x="6144768" y="3931920"/>
            <a:ext cx="5513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Test Accuracy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6144768" y="4224528"/>
            <a:ext cx="55138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6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98.21%</a:t>
            </a:r>
            <a:endParaRPr lang="en-US" sz="3800" dirty="0"/>
          </a:p>
        </p:txBody>
      </p:sp>
      <p:sp>
        <p:nvSpPr>
          <p:cNvPr id="12" name="Shape 7"/>
          <p:cNvSpPr/>
          <p:nvPr/>
        </p:nvSpPr>
        <p:spPr>
          <a:xfrm>
            <a:off x="502920" y="5138928"/>
            <a:ext cx="1115568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8"/>
          <p:cNvSpPr/>
          <p:nvPr/>
        </p:nvSpPr>
        <p:spPr>
          <a:xfrm>
            <a:off x="731520" y="527608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the Transformer Win?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731520" y="562356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Self-attention sees ALL tokens simultaneously — no vanishing gradient over sequence length.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Parallel processing → richer representations even in just 5 epochs with lower LR (0.0005).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502920" y="651052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NLP  |  LSTM Text Classification  |  NCAI Generative AI Internship</a:t>
            </a:r>
            <a:endParaRPr lang="en-US" sz="850" dirty="0"/>
          </a:p>
        </p:txBody>
      </p:sp>
      <p:sp>
        <p:nvSpPr>
          <p:cNvPr id="16" name="Text 11"/>
          <p:cNvSpPr/>
          <p:nvPr/>
        </p:nvSpPr>
        <p:spPr>
          <a:xfrm>
            <a:off x="11384280" y="651052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30352" cy="530352"/>
          </a:xfrm>
          <a:prstGeom prst="ellipse">
            <a:avLst/>
          </a:prstGeom>
          <a:solidFill>
            <a:srgbClr val="F6A62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49377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16152" y="338328"/>
            <a:ext cx="10469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 — LSTM vs GRU vs Transformer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02920" y="109728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models trained on the same dataset, tokenizer, and train-test split. Only the architecture and loss configuration differed.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1828800"/>
          <a:ext cx="713232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7863840" y="182880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Table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63840" y="2240280"/>
          <a:ext cx="3794760" cy="1508760"/>
        </p:xfrm>
        <a:graphic>
          <a:graphicData uri="http://schemas.openxmlformats.org/drawingml/2006/table">
            <a:tbl>
              <a:tblPr/>
              <a:tblGrid>
                <a:gridCol w="948690"/>
                <a:gridCol w="948690"/>
                <a:gridCol w="948690"/>
                <a:gridCol w="948690"/>
              </a:tblGrid>
              <a:tr h="3771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7863840" y="4023360"/>
            <a:ext cx="3794760" cy="768096"/>
          </a:xfrm>
          <a:prstGeom prst="roundRect">
            <a:avLst>
              <a:gd name="adj" fmla="val 8333"/>
            </a:avLst>
          </a:prstGeom>
          <a:solidFill>
            <a:srgbClr val="EBF0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5"/>
          <p:cNvSpPr/>
          <p:nvPr/>
        </p:nvSpPr>
        <p:spPr>
          <a:xfrm>
            <a:off x="8065008" y="4178808"/>
            <a:ext cx="457200" cy="457200"/>
          </a:xfrm>
          <a:prstGeom prst="ellipse">
            <a:avLst/>
          </a:prstGeom>
          <a:solidFill>
            <a:srgbClr val="F6A623"/>
          </a:solidFill>
          <a:ln/>
        </p:spPr>
      </p:sp>
      <p:sp>
        <p:nvSpPr>
          <p:cNvPr id="11" name="Text 6"/>
          <p:cNvSpPr/>
          <p:nvPr/>
        </p:nvSpPr>
        <p:spPr>
          <a:xfrm>
            <a:off x="8641080" y="407822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Wins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8641080" y="442569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accuracy, precision, recall, and F1 — parallel attention is simply more powerful for this task.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7863840" y="4864608"/>
            <a:ext cx="3794760" cy="768096"/>
          </a:xfrm>
          <a:prstGeom prst="roundRect">
            <a:avLst>
              <a:gd name="adj" fmla="val 8333"/>
            </a:avLst>
          </a:prstGeom>
          <a:solidFill>
            <a:srgbClr val="EBF0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8065008" y="5020056"/>
            <a:ext cx="457200" cy="457200"/>
          </a:xfrm>
          <a:prstGeom prst="ellipse">
            <a:avLst/>
          </a:prstGeom>
          <a:solidFill>
            <a:srgbClr val="3A9E6F"/>
          </a:solidFill>
          <a:ln/>
        </p:spPr>
      </p:sp>
      <p:sp>
        <p:nvSpPr>
          <p:cNvPr id="15" name="Text 10"/>
          <p:cNvSpPr/>
          <p:nvPr/>
        </p:nvSpPr>
        <p:spPr>
          <a:xfrm>
            <a:off x="8641080" y="491947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is Efficient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8641080" y="526694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Reached 97% in half the epochs LSTM needed — a great choice when compute is limited.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7863840" y="5705856"/>
            <a:ext cx="3794760" cy="768096"/>
          </a:xfrm>
          <a:prstGeom prst="roundRect">
            <a:avLst>
              <a:gd name="adj" fmla="val 8333"/>
            </a:avLst>
          </a:prstGeom>
          <a:solidFill>
            <a:srgbClr val="EBF0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065008" y="5861304"/>
            <a:ext cx="457200" cy="457200"/>
          </a:xfrm>
          <a:prstGeom prst="ellipse">
            <a:avLst/>
          </a:prstGeom>
          <a:solidFill>
            <a:srgbClr val="2D4A8A"/>
          </a:solidFill>
          <a:ln/>
        </p:spPr>
      </p:sp>
      <p:sp>
        <p:nvSpPr>
          <p:cNvPr id="19" name="Text 14"/>
          <p:cNvSpPr/>
          <p:nvPr/>
        </p:nvSpPr>
        <p:spPr>
          <a:xfrm>
            <a:off x="8641080" y="57607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Lagged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8641080" y="610819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weighting caused it to over-predict spam, hurting overall accuracy. Without weighting it might score closer to GRU.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502920" y="651052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NLP  |  LSTM Text Classification  |  NCAI Generative AI Internship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11384280" y="651052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30352" cy="530352"/>
          </a:xfrm>
          <a:prstGeom prst="ellipse">
            <a:avLst/>
          </a:prstGeom>
          <a:solidFill>
            <a:srgbClr val="F6A62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49377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16152" y="338328"/>
            <a:ext cx="10469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Predictions — All Models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02920" y="109728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models were tested on the same 5 held-out messages. The Transformer correctly classified all 5; GRU missed 1 spam message.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74520"/>
          <a:ext cx="11155680" cy="3200400"/>
        </p:xfrm>
        <a:graphic>
          <a:graphicData uri="http://schemas.openxmlformats.org/drawingml/2006/table">
            <a:tbl>
              <a:tblPr/>
              <a:tblGrid>
                <a:gridCol w="2231136"/>
                <a:gridCol w="2231136"/>
                <a:gridCol w="2231136"/>
                <a:gridCol w="2231136"/>
                <a:gridCol w="2231136"/>
              </a:tblGrid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 (truncated)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5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Oh right, ok. I'll make sure that i do loads of work during the day! got a nasty cough…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5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5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5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5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am in tirupur. call you da.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5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5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5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5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that just means you have a fat head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5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5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5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C3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have won £1,000 cash or a £2,000 prize! To claim, call 09050000327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5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C3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5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5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 after now i m cleaning the house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5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5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5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02920" y="5230368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EBF0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704088" y="5394960"/>
            <a:ext cx="3218688" cy="292608"/>
          </a:xfrm>
          <a:prstGeom prst="roundRect">
            <a:avLst>
              <a:gd name="adj" fmla="val 50000"/>
            </a:avLst>
          </a:prstGeom>
          <a:solidFill>
            <a:srgbClr val="3A9E6F"/>
          </a:solidFill>
          <a:ln/>
        </p:spPr>
      </p:sp>
      <p:sp>
        <p:nvSpPr>
          <p:cNvPr id="9" name="Text 5"/>
          <p:cNvSpPr/>
          <p:nvPr/>
        </p:nvSpPr>
        <p:spPr>
          <a:xfrm>
            <a:off x="704088" y="5394960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1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704088" y="5742432"/>
            <a:ext cx="32186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LSTM &amp; Transformer correctly identified the obvious spam message (#4) with payment-related keywords.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315968" y="5230368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EBF0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517136" y="5394960"/>
            <a:ext cx="3218688" cy="292608"/>
          </a:xfrm>
          <a:prstGeom prst="roundRect">
            <a:avLst>
              <a:gd name="adj" fmla="val 50000"/>
            </a:avLst>
          </a:prstGeom>
          <a:solidFill>
            <a:srgbClr val="F6A623"/>
          </a:solidFill>
          <a:ln/>
        </p:spPr>
      </p:sp>
      <p:sp>
        <p:nvSpPr>
          <p:cNvPr id="13" name="Text 9"/>
          <p:cNvSpPr/>
          <p:nvPr/>
        </p:nvSpPr>
        <p:spPr>
          <a:xfrm>
            <a:off x="4517136" y="5394960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2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517136" y="5742432"/>
            <a:ext cx="32186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missed the spam (#4) — possibly because standard BCE without class weighting makes it lean conservative.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8129016" y="5230368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EBF0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30184" y="5394960"/>
            <a:ext cx="3218688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7" name="Text 13"/>
          <p:cNvSpPr/>
          <p:nvPr/>
        </p:nvSpPr>
        <p:spPr>
          <a:xfrm>
            <a:off x="8330184" y="5394960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3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8330184" y="5742432"/>
            <a:ext cx="32186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agree on ham messages — conversational, short texts are easy to classify correctly.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502920" y="651052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NLP  |  LSTM Text Classification  |  NCAI Generative AI Internship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11384280" y="651052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828800"/>
            <a:ext cx="5029200" cy="5029200"/>
          </a:xfrm>
          <a:prstGeom prst="ellipse">
            <a:avLst/>
          </a:prstGeom>
          <a:solidFill>
            <a:srgbClr val="2D4A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114800"/>
            <a:ext cx="4389120" cy="4389120"/>
          </a:xfrm>
          <a:prstGeom prst="ellipse">
            <a:avLst/>
          </a:prstGeom>
          <a:solidFill>
            <a:srgbClr val="3A5A9B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754880" y="5303520"/>
            <a:ext cx="2926080" cy="2926080"/>
          </a:xfrm>
          <a:prstGeom prst="ellipse">
            <a:avLst/>
          </a:prstGeom>
          <a:solidFill>
            <a:srgbClr val="F6A623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594360"/>
            <a:ext cx="868680" cy="868680"/>
          </a:xfrm>
          <a:prstGeom prst="ellipse">
            <a:avLst/>
          </a:prstGeom>
          <a:solidFill>
            <a:srgbClr val="F6A62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768096"/>
            <a:ext cx="521208" cy="5212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594360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02920" y="169164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PyTorch deep learning models were implemented, trained, and compared on the SMS Spam Collection Dataset under identical preprocessing and evaluation conditions.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02920" y="2514600"/>
            <a:ext cx="11155680" cy="1115568"/>
          </a:xfrm>
          <a:prstGeom prst="roundRect">
            <a:avLst>
              <a:gd name="adj" fmla="val 6557"/>
            </a:avLst>
          </a:prstGeom>
          <a:solidFill>
            <a:srgbClr val="15205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" y="2715768"/>
            <a:ext cx="1371600" cy="713232"/>
          </a:xfrm>
          <a:prstGeom prst="roundRect">
            <a:avLst>
              <a:gd name="adj" fmla="val 8974"/>
            </a:avLst>
          </a:prstGeom>
          <a:solidFill>
            <a:srgbClr val="F6A623"/>
          </a:solidFill>
          <a:ln/>
        </p:spPr>
      </p:sp>
      <p:sp>
        <p:nvSpPr>
          <p:cNvPr id="11" name="Text 8"/>
          <p:cNvSpPr/>
          <p:nvPr/>
        </p:nvSpPr>
        <p:spPr>
          <a:xfrm>
            <a:off x="658368" y="2715768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LSTM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2212848" y="2606040"/>
            <a:ext cx="1645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6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88.07%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4023360" y="278892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epochs  epochs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446520" y="278892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BCEWithLogitsLoss + class weight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869680" y="278892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recurrent model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02920" y="3776472"/>
            <a:ext cx="11155680" cy="1115568"/>
          </a:xfrm>
          <a:prstGeom prst="roundRect">
            <a:avLst>
              <a:gd name="adj" fmla="val 6557"/>
            </a:avLst>
          </a:prstGeom>
          <a:solidFill>
            <a:srgbClr val="15205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58368" y="3977640"/>
            <a:ext cx="1371600" cy="713232"/>
          </a:xfrm>
          <a:prstGeom prst="roundRect">
            <a:avLst>
              <a:gd name="adj" fmla="val 8974"/>
            </a:avLst>
          </a:prstGeom>
          <a:solidFill>
            <a:srgbClr val="3A9E6F"/>
          </a:solidFill>
          <a:ln/>
        </p:spPr>
      </p:sp>
      <p:sp>
        <p:nvSpPr>
          <p:cNvPr id="18" name="Text 15"/>
          <p:cNvSpPr/>
          <p:nvPr/>
        </p:nvSpPr>
        <p:spPr>
          <a:xfrm>
            <a:off x="658368" y="3977640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GRU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2212848" y="3867912"/>
            <a:ext cx="1645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6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97.04%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4023360" y="4050792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epochs  epochs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446520" y="4050792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BCEWithLogitsLoss (balanced)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8869680" y="4050792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lighter, strong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502920" y="5038344"/>
            <a:ext cx="11155680" cy="1115568"/>
          </a:xfrm>
          <a:prstGeom prst="roundRect">
            <a:avLst>
              <a:gd name="adj" fmla="val 6557"/>
            </a:avLst>
          </a:prstGeom>
          <a:solidFill>
            <a:srgbClr val="15205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58368" y="5239512"/>
            <a:ext cx="1371600" cy="713232"/>
          </a:xfrm>
          <a:prstGeom prst="roundRect">
            <a:avLst>
              <a:gd name="adj" fmla="val 8974"/>
            </a:avLst>
          </a:prstGeom>
          <a:solidFill>
            <a:srgbClr val="5A1A8A"/>
          </a:solidFill>
          <a:ln/>
        </p:spPr>
      </p:sp>
      <p:sp>
        <p:nvSpPr>
          <p:cNvPr id="25" name="Text 22"/>
          <p:cNvSpPr/>
          <p:nvPr/>
        </p:nvSpPr>
        <p:spPr>
          <a:xfrm>
            <a:off x="658368" y="5239512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Transformer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2212848" y="5129784"/>
            <a:ext cx="1645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6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98.21%</a:t>
            </a:r>
            <a:endParaRPr lang="en-US" sz="2600" dirty="0"/>
          </a:p>
        </p:txBody>
      </p:sp>
      <p:sp>
        <p:nvSpPr>
          <p:cNvPr id="27" name="Text 24"/>
          <p:cNvSpPr/>
          <p:nvPr/>
        </p:nvSpPr>
        <p:spPr>
          <a:xfrm>
            <a:off x="4023360" y="5312664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epochs  epochs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6446520" y="5312664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BCEWithLogitsLoss + lower LR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8869680" y="5312664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performer overall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502920" y="6309360"/>
            <a:ext cx="11155680" cy="347472"/>
          </a:xfrm>
          <a:prstGeom prst="roundRect">
            <a:avLst>
              <a:gd name="adj" fmla="val 18421"/>
            </a:avLst>
          </a:prstGeom>
          <a:solidFill>
            <a:srgbClr val="F6A623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502920" y="6309360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Model: Transformer Encoder  |  98.21% Accuracy  |  Spam Detection F1: 93.01%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LSTM Text Classification – NCAI Internship</dc:title>
  <dc:subject>PptxGenJS Presentation</dc:subject>
  <dc:creator>Hassan Iqbal</dc:creator>
  <cp:lastModifiedBy>Hassan Iqbal</cp:lastModifiedBy>
  <cp:revision>1</cp:revision>
  <dcterms:created xsi:type="dcterms:W3CDTF">2026-07-01T07:38:58Z</dcterms:created>
  <dcterms:modified xsi:type="dcterms:W3CDTF">2026-07-01T07:38:58Z</dcterms:modified>
</cp:coreProperties>
</file>